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e9796a20ba49a5" /><Relationship Type="http://schemas.openxmlformats.org/officeDocument/2006/relationships/extended-properties" Target="/docProps/app.xml" Id="R83cda5fb3ffb46ae" /><Relationship Type="http://schemas.openxmlformats.org/officeDocument/2006/relationships/officeDocument" Target="/ppt/presentation.xml" Id="R1669052d08de4830" /></Relationships>
</file>

<file path=ppt/presentation.xml><?xml version="1.0" encoding="utf-8"?>
<p:presentation xmlns:p="http://schemas.openxmlformats.org/presentationml/2006/main">
  <p:sldMasterIdLst>
    <p:sldMasterId xmlns:r="http://schemas.openxmlformats.org/officeDocument/2006/relationships" id="2147483648" r:id="Rcefa1e86a6184bc6"/>
  </p:sldMasterIdLst>
  <p:notesMasterIdLst>
    <p:notesMasterId xmlns:r="http://schemas.openxmlformats.org/officeDocument/2006/relationships" r:id="R668b8468175d4984"/>
  </p:notesMasterIdLst>
  <p:sldIdLst>
    <p:sldId xmlns:r="http://schemas.openxmlformats.org/officeDocument/2006/relationships" id="256" r:id="Rf5d91387a58a4c51"/>
    <p:sldId xmlns:r="http://schemas.openxmlformats.org/officeDocument/2006/relationships" id="257" r:id="R8d6d43fc86ea4c62"/>
    <p:sldId xmlns:r="http://schemas.openxmlformats.org/officeDocument/2006/relationships" id="258" r:id="R92aa7c947baf4ad1"/>
    <p:sldId xmlns:r="http://schemas.openxmlformats.org/officeDocument/2006/relationships" id="259" r:id="R7eb164a087814bc4"/>
    <p:sldId xmlns:r="http://schemas.openxmlformats.org/officeDocument/2006/relationships" id="260" r:id="R5e764cdacfc84c9b"/>
    <p:sldId xmlns:r="http://schemas.openxmlformats.org/officeDocument/2006/relationships" id="261" r:id="Rfe85a7b41a4b4b63"/>
    <p:sldId xmlns:r="http://schemas.openxmlformats.org/officeDocument/2006/relationships" id="262" r:id="R090bf05162974d07"/>
    <p:sldId xmlns:r="http://schemas.openxmlformats.org/officeDocument/2006/relationships" id="263" r:id="Rb9cfe08393a64203"/>
    <p:sldId xmlns:r="http://schemas.openxmlformats.org/officeDocument/2006/relationships" id="264" r:id="Rfe81cbaafffe469c"/>
    <p:sldId xmlns:r="http://schemas.openxmlformats.org/officeDocument/2006/relationships" id="265" r:id="R835fe83ec8e24c57"/>
    <p:sldId xmlns:r="http://schemas.openxmlformats.org/officeDocument/2006/relationships" id="266" r:id="R6bea04de250346fb"/>
    <p:sldId xmlns:r="http://schemas.openxmlformats.org/officeDocument/2006/relationships" id="267" r:id="Rc5f7915ae77449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5a2175334b4f77" /><Relationship Type="http://schemas.openxmlformats.org/officeDocument/2006/relationships/slideMaster" Target="/ppt/slideMasters/slideMaster1.xml" Id="Rcefa1e86a6184bc6" /><Relationship Type="http://schemas.openxmlformats.org/officeDocument/2006/relationships/notesMaster" Target="/ppt/notesMasters/notesMaster1.xml" Id="R668b8468175d4984" /><Relationship Type="http://schemas.openxmlformats.org/officeDocument/2006/relationships/presProps" Target="/ppt/presProps.xml" Id="R6eb6f0a1db384ff8" /><Relationship Type="http://schemas.openxmlformats.org/officeDocument/2006/relationships/tableStyles" Target="/ppt/tableStyles.xml" Id="R1a528ec2400b4ddd" /><Relationship Type="http://schemas.openxmlformats.org/officeDocument/2006/relationships/slide" Target="/ppt/slides/slide1.xml" Id="Rf5d91387a58a4c51" /><Relationship Type="http://schemas.openxmlformats.org/officeDocument/2006/relationships/slide" Target="/ppt/slides/slide2.xml" Id="R8d6d43fc86ea4c62" /><Relationship Type="http://schemas.openxmlformats.org/officeDocument/2006/relationships/slide" Target="/ppt/slides/slide3.xml" Id="R92aa7c947baf4ad1" /><Relationship Type="http://schemas.openxmlformats.org/officeDocument/2006/relationships/slide" Target="/ppt/slides/slide4.xml" Id="R7eb164a087814bc4" /><Relationship Type="http://schemas.openxmlformats.org/officeDocument/2006/relationships/slide" Target="/ppt/slides/slide5.xml" Id="R5e764cdacfc84c9b" /><Relationship Type="http://schemas.openxmlformats.org/officeDocument/2006/relationships/slide" Target="/ppt/slides/slide6.xml" Id="Rfe85a7b41a4b4b63" /><Relationship Type="http://schemas.openxmlformats.org/officeDocument/2006/relationships/slide" Target="/ppt/slides/slide7.xml" Id="R090bf05162974d07" /><Relationship Type="http://schemas.openxmlformats.org/officeDocument/2006/relationships/slide" Target="/ppt/slides/slide8.xml" Id="Rb9cfe08393a64203" /><Relationship Type="http://schemas.openxmlformats.org/officeDocument/2006/relationships/slide" Target="/ppt/slides/slide9.xml" Id="Rfe81cbaafffe469c" /><Relationship Type="http://schemas.openxmlformats.org/officeDocument/2006/relationships/slide" Target="/ppt/slides/slide10.xml" Id="R835fe83ec8e24c57" /><Relationship Type="http://schemas.openxmlformats.org/officeDocument/2006/relationships/slide" Target="/ppt/slides/slide11.xml" Id="R6bea04de250346fb" /><Relationship Type="http://schemas.openxmlformats.org/officeDocument/2006/relationships/slide" Target="/ppt/slides/slide12.xml" Id="Rc5f7915ae77449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fd4a606a4743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b925ea035a48e9" /><Relationship Type="http://schemas.openxmlformats.org/officeDocument/2006/relationships/notesMaster" Target="/ppt/notesMasters/notesMaster1.xml" Id="R6b2e0208ac7341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9a55198982443c" /><Relationship Type="http://schemas.openxmlformats.org/officeDocument/2006/relationships/notesMaster" Target="/ppt/notesMasters/notesMaster1.xml" Id="R34e609bd3c984d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57b5b43672416a" /><Relationship Type="http://schemas.openxmlformats.org/officeDocument/2006/relationships/notesMaster" Target="/ppt/notesMasters/notesMaster1.xml" Id="R1619e476c6f34c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250b92a694435b" /><Relationship Type="http://schemas.openxmlformats.org/officeDocument/2006/relationships/notesMaster" Target="/ppt/notesMasters/notesMaster1.xml" Id="R1b169302811d4c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b8ef603e3644fa" /><Relationship Type="http://schemas.openxmlformats.org/officeDocument/2006/relationships/notesMaster" Target="/ppt/notesMasters/notesMaster1.xml" Id="R4d1170ddd14d4d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b72183731b4c00" /><Relationship Type="http://schemas.openxmlformats.org/officeDocument/2006/relationships/notesMaster" Target="/ppt/notesMasters/notesMaster1.xml" Id="Rd84291845d1b47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423daf24574f07" /><Relationship Type="http://schemas.openxmlformats.org/officeDocument/2006/relationships/notesMaster" Target="/ppt/notesMasters/notesMaster1.xml" Id="R18fa45a6b40e41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26f4ac9db8405d" /><Relationship Type="http://schemas.openxmlformats.org/officeDocument/2006/relationships/notesMaster" Target="/ppt/notesMasters/notesMaster1.xml" Id="R4546ca7c7a9949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ab5ca21cb44d74" /><Relationship Type="http://schemas.openxmlformats.org/officeDocument/2006/relationships/notesMaster" Target="/ppt/notesMasters/notesMaster1.xml" Id="R2b766963e5be41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5909dc42394491" /><Relationship Type="http://schemas.openxmlformats.org/officeDocument/2006/relationships/notesMaster" Target="/ppt/notesMasters/notesMaster1.xml" Id="R7d6f77bfbba142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b4516ca93743cf" /><Relationship Type="http://schemas.openxmlformats.org/officeDocument/2006/relationships/notesMaster" Target="/ppt/notesMasters/notesMaster1.xml" Id="R42e5330d2efa44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636ca4ac3f4566" /><Relationship Type="http://schemas.openxmlformats.org/officeDocument/2006/relationships/notesMaster" Target="/ppt/notesMasters/notesMaster1.xml" Id="R2e4fe80027c145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both team members. This project implements a historical hit-label classifier using the original Stanford dataset with a new pipeline. Do not describe model scores as established probabilities of future chart success. Source: Georgieva, Suta and Burton, HitPredict, Stanford CS229 (2018), https://cs229.stanford.edu/proj2018/report/16.pdf. Dataset retrieved 7 October 2026 from the public archive linked in that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Georgieva, Suta and Burton, HitPredict, Stanford CS229 (2018), https://cs229.stanford.edu/proj2018/report/16.pdf. Dataset retrieved 7 October 2026 from the public archive linked in that report. Explain that a hit means the inherited source Billboard label. Non-hit labels come from the source sample. The labels are not reconstructed from chart histories in this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Georgieva, Suta and Burton, HitPredict, Stanford CS229 (2018), https://cs229.stanford.edu/proj2018/report/16.pdf. Dataset retrieved 7 October 2026 from the public archive linked in that report. Counts are calculated from the source CSV and cleaning audit in results/metrics.json. The no-date source has 4040 rows, 21 duplicate song keys and no missing audio cells. The cleaned data has 1595 hits, 2424 non-hits and 2181 normalized artist names. Three zero-tempo entries remain 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Georgieva, Suta and Burton, HitPredict, Stanford CS229 (2018), https://cs229.stanford.edu/proj2018/report/16.pdf. Dataset retrieved 7 October 2026 from the public archive linked in that report. The nine modeled audio features follow the audio subset described by the original project. ArtistScore is excluded because its temporal validity cannot be independently audited from the no-date CSV. No artist or track names are model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references: https://scikit-learn.org/stable/modules/cross_validation.html and https://scikit-learn.org/stable/common_pitfalls.html. Normalized artist names and identical nine-feature vectors define connected groups. The first group split reserves 20 percent for test; the second reserves 20 percent of remaining groups for validation. Row proportions vary with artist discography sizes. Seed 21. Aliases and collaborations remain a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results/model_comparison.csv. Nine configurations cover five learned families plus baseline. Chart shows the best configuration per family. Bars are mean 3-fold training group CV ROC-AUC. Full fold scores and standard deviations are in the repository. Selected forest: 250 trees, depth 16, min_samples_leaf 5. Selection does not use primary test outcomes. Method references: https://scikit-learn.org/stable/modules/cross_validation.html and 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results/metrics.json. The selected model is fitted on training rows only and uses a validation-selected threshold of 0.29. Group bootstrap 95 percent interval for AUC: 0.773 to 0.848, 500 resamples, conditional on this fitted model and split. Threshold 0.50 is a predefined reference, not a test-optimized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results/metrics.json, confusion matrix at cutoff 0.29. Rows represent actual source labels; columns represent predictions. Precision is 285/(285+209), recall is 285/(285+31). The chosen F1 objective does not define a marketing investment cost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results/feature_importance.csv. The chart shows mean decrease in validation ROC-AUC after shuffling each feature, 15 repeats. The repository also contains standard deviations. Values can reflect correlations or sample construction and must not be interpreted as causal effects. Reference: https://scikit-learn.org/stable/modules/permutation_importance.html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Georgieva, Suta and Burton, HitPredict, Stanford CS229 (2018), https://cs229.stanford.edu/proj2018/report/16.pdf. Dataset retrieved 7 October 2026 from the public archive linked in that report. Our results/metrics.json records training AUC 0.982 and test AUC 0.814, so overfitting remains. The source report has inconsistent collection and label date windows. We inherit the labels without verifying chart histories. Artist aliases and collaborations may evade grouping. The secondary random row split has 392 shared artists and AUC 0.789; its different sample and training size prevent a causal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local Streamlit app before this slide. Select a held-out example, click Predict hit label, and compare the result with the inherited label. The examples are selected in source order, not chosen only for correct predictions. Show a custom feature edit and explain that this is a model response, not a causal intervention. Show CSV upload and the model results tab. Offline fallback: python -m src.predict --input data/demo_tracks.csv --output 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finds useful historical classification signal with imperfect predictions and a recall/precision trade-off. The next experiment requires verified release dates, track identity checks, representative non-hits, a fixed future chart window, temporal holdout and calibration. Original dataset and inspiration credited to Georgieva, Suta and Burton, Stanford CS229 (2018), https://cs229.stanford.edu/proj2018/report/16.pdf.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289d74c9594c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9d517241264980" /><Relationship Type="http://schemas.openxmlformats.org/officeDocument/2006/relationships/slideLayout" Target="/ppt/slideLayouts/slideLayout1.xml" Id="Ra8590ea81c0c49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590ea81c0c49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42972f031145e4" /><Relationship Type="http://schemas.openxmlformats.org/officeDocument/2006/relationships/notesSlide" Target="/ppt/notesSlides/notesSlide1.xml" Id="Rce1e2ba524fb40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e4d09e8f434217" /><Relationship Type="http://schemas.openxmlformats.org/officeDocument/2006/relationships/notesSlide" Target="/ppt/notesSlides/notesSlide2.xml" Id="R6bd39833c36744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b6ab68ca4344f8" /><Relationship Type="http://schemas.openxmlformats.org/officeDocument/2006/relationships/notesSlide" Target="/ppt/notesSlides/notesSlide3.xml" Id="R823b78df55de47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b81336165e4556" /><Relationship Type="http://schemas.openxmlformats.org/officeDocument/2006/relationships/notesSlide" Target="/ppt/notesSlides/notesSlide4.xml" Id="R5e881cd407e247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0c3661e5fa4543" /><Relationship Type="http://schemas.openxmlformats.org/officeDocument/2006/relationships/notesSlide" Target="/ppt/notesSlides/notesSlide5.xml" Id="Re827adeae7a840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20413fe6774cfb" /><Relationship Type="http://schemas.openxmlformats.org/officeDocument/2006/relationships/chart" Target="/ppt/slides/charts/chart1.xml" Id="Rffc90f7572e34e21" /><Relationship Type="http://schemas.openxmlformats.org/officeDocument/2006/relationships/notesSlide" Target="/ppt/notesSlides/notesSlide6.xml" Id="Rb19a919a33434c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f2dacfac544c92" /><Relationship Type="http://schemas.openxmlformats.org/officeDocument/2006/relationships/notesSlide" Target="/ppt/notesSlides/notesSlide7.xml" Id="R7c3a33e6f4b94a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23a24b4e724b3e" /><Relationship Type="http://schemas.openxmlformats.org/officeDocument/2006/relationships/notesSlide" Target="/ppt/notesSlides/notesSlide8.xml" Id="R96f1dd6023964e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ed6d4fd34c4695" /><Relationship Type="http://schemas.openxmlformats.org/officeDocument/2006/relationships/chart" Target="/ppt/slides/charts/chart2.xml" Id="Rda3393f5d3574fd9" /><Relationship Type="http://schemas.openxmlformats.org/officeDocument/2006/relationships/notesSlide" Target="/ppt/notesSlides/notesSlide9.xml" Id="R0c36a0f5a49747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e44d9fce43442f" /><Relationship Type="http://schemas.openxmlformats.org/officeDocument/2006/relationships/notesSlide" Target="/ppt/notesSlides/notesSlide10.xml" Id="Rec2d9ad9d23b46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7f6291f4ae44c72" /><Relationship Type="http://schemas.openxmlformats.org/officeDocument/2006/relationships/notesSlide" Target="/ppt/notesSlides/notesSlide11.xml" Id="R833c7378dbee46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1d94e1aa7b4156" /><Relationship Type="http://schemas.openxmlformats.org/officeDocument/2006/relationships/notesSlide" Target="/ppt/notesSlides/notesSlide12.xml" Id="R64bd13e7cd72428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Measured score</c:v>
          </c:tx>
          <c:spPr>
            <a:solidFill xmlns:a="http://schemas.openxmlformats.org/drawingml/2006/main">
              <a:srgbClr val="14633B"/>
            </a:solidFill>
          </c:spPr>
          <c:cat>
            <c:strRef>
              <c:f>'Chart Data'!$A$2:$A$7</c:f>
              <c:strCache>
                <c:ptCount val="6"/>
                <c:pt idx="0">
                  <c:v>Random forest</c:v>
                </c:pt>
                <c:pt idx="1">
                  <c:v>Neural network</c:v>
                </c:pt>
                <c:pt idx="2">
                  <c:v>RBF SVM</c:v>
                </c:pt>
                <c:pt idx="3">
                  <c:v>Logistic regression</c:v>
                </c:pt>
                <c:pt idx="4">
                  <c:v>LDA</c:v>
                </c:pt>
                <c:pt idx="5">
                  <c:v>Majority baseline</c:v>
                </c:pt>
              </c:strCache>
            </c:strRef>
          </c:cat>
          <c:val>
            <c:numRef>
              <c:f>'Chart Data'!$B$2:$B$7</c:f>
              <c:numCache>
                <c:formatCode>0.000</c:formatCode>
                <c:ptCount val="6"/>
                <c:pt idx="0">
                  <c:v>0.800996</c:v>
                </c:pt>
                <c:pt idx="1">
                  <c:v>0.786671</c:v>
                </c:pt>
                <c:pt idx="2">
                  <c:v>0.783004</c:v>
                </c:pt>
                <c:pt idx="3">
                  <c:v>0.771647</c:v>
                </c:pt>
                <c:pt idx="4">
                  <c:v>0.765519</c:v>
                </c:pt>
                <c:pt idx="5">
                  <c:v>0.5</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53127"/>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5E1D9"/>
            </a:solidFill>
          </a:ln>
        </c:spPr>
        <c:txPr>
          <a:bodyPr xmlns:a="http://schemas.openxmlformats.org/drawingml/2006/main" anchorCtr="1"/>
          <a:lstStyle xmlns:a="http://schemas.openxmlformats.org/drawingml/2006/main"/>
          <a:p xmlns:a="http://schemas.openxmlformats.org/drawingml/2006/main">
            <a:pPr>
              <a:defRPr sz="1725">
                <a:solidFill>
                  <a:srgbClr val="153127"/>
                </a:solidFill>
                <a:latin typeface="Liberation Sans"/>
                <a:ea typeface="Liberation Sans"/>
                <a:cs typeface="Liberation Sans"/>
              </a:defRPr>
            </a:pPr>
          </a:p>
        </c:txPr>
        <c:crossAx val="48672768"/>
      </c:catAx>
      <c:valAx>
        <c:axId val="48672768"/>
        <c:scaling>
          <c:orientation val="minMax"/>
          <c:max val="1"/>
          <c:min val="0"/>
        </c:scaling>
        <c:delete val="0"/>
        <c:axPos val="b"/>
        <c:majorGridlines>
          <c:spPr>
            <a:ln xmlns:a="http://schemas.openxmlformats.org/drawingml/2006/main" w="9525">
              <a:solidFill>
                <a:srgbClr val="D5E1D9"/>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D64"/>
                </a:solidFill>
                <a:latin typeface="Liberation Sans"/>
                <a:ea typeface="Liberation Sans"/>
                <a:cs typeface="Liberation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Measured score</c:v>
          </c:tx>
          <c:spPr>
            <a:solidFill xmlns:a="http://schemas.openxmlformats.org/drawingml/2006/main">
              <a:srgbClr val="14633B"/>
            </a:solidFill>
          </c:spPr>
          <c:cat>
            <c:strRef>
              <c:f>'Chart Data'!$A$2:$A$7</c:f>
              <c:strCache>
                <c:ptCount val="6"/>
                <c:pt idx="0">
                  <c:v>Instrumentalness</c:v>
                </c:pt>
                <c:pt idx="1">
                  <c:v>Danceability</c:v>
                </c:pt>
                <c:pt idx="2">
                  <c:v>Acousticness</c:v>
                </c:pt>
                <c:pt idx="3">
                  <c:v>Loudness</c:v>
                </c:pt>
                <c:pt idx="4">
                  <c:v>Speechiness</c:v>
                </c:pt>
                <c:pt idx="5">
                  <c:v>Valence</c:v>
                </c:pt>
              </c:strCache>
            </c:strRef>
          </c:cat>
          <c:val>
            <c:numRef>
              <c:f>'Chart Data'!$B$2:$B$7</c:f>
              <c:numCache>
                <c:formatCode>0.00</c:formatCode>
                <c:ptCount val="6"/>
                <c:pt idx="0">
                  <c:v>0.102438</c:v>
                </c:pt>
                <c:pt idx="1">
                  <c:v>0.039161</c:v>
                </c:pt>
                <c:pt idx="2">
                  <c:v>0.038406</c:v>
                </c:pt>
                <c:pt idx="3">
                  <c:v>0.032422</c:v>
                </c:pt>
                <c:pt idx="4">
                  <c:v>0.025448</c:v>
                </c:pt>
                <c:pt idx="5">
                  <c:v>0.010947</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53127"/>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5E1D9"/>
            </a:solidFill>
          </a:ln>
        </c:spPr>
        <c:txPr>
          <a:bodyPr xmlns:a="http://schemas.openxmlformats.org/drawingml/2006/main" anchorCtr="1"/>
          <a:lstStyle xmlns:a="http://schemas.openxmlformats.org/drawingml/2006/main"/>
          <a:p xmlns:a="http://schemas.openxmlformats.org/drawingml/2006/main">
            <a:pPr>
              <a:defRPr sz="1725">
                <a:solidFill>
                  <a:srgbClr val="153127"/>
                </a:solidFill>
                <a:latin typeface="Liberation Sans"/>
                <a:ea typeface="Liberation Sans"/>
                <a:cs typeface="Liberation Sans"/>
              </a:defRPr>
            </a:pPr>
          </a:p>
        </c:txPr>
        <c:crossAx val="48672768"/>
      </c:catAx>
      <c:valAx>
        <c:axId val="48672768"/>
        <c:scaling>
          <c:orientation val="minMax"/>
          <c:max val="0.12"/>
          <c:min val="0"/>
        </c:scaling>
        <c:delete val="0"/>
        <c:axPos val="b"/>
        <c:majorGridlines>
          <c:spPr>
            <a:ln xmlns:a="http://schemas.openxmlformats.org/drawingml/2006/main" w="9525">
              <a:solidFill>
                <a:srgbClr val="D5E1D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C6D64"/>
                </a:solidFill>
                <a:latin typeface="Liberation Sans"/>
                <a:ea typeface="Liberation Sans"/>
                <a:cs typeface="Liberation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1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702B11-B40A-4F13-94CB-AA680668516A}"/>
              </a:ext>
            </a:extLst>
          </p:cNvPr>
          <p:cNvSpPr>
            <a:spLocks xmlns:a="http://schemas.openxmlformats.org/drawingml/2006/main" noGrp="1"/>
          </p:cNvSpPr>
          <p:nvPr/>
        </p:nvSpPr>
        <p:spPr>
          <a:xfrm xmlns:a="http://schemas.openxmlformats.org/drawingml/2006/main">
            <a:off x="666750" y="119062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Liberation Sans"/>
                <a:ea typeface="Liberation Sans"/>
                <a:cs typeface="Liberation Sans"/>
              </a:defRPr>
            </a:pPr>
            <a:r>
              <a:rPr sz="6150" b="1">
                <a:solidFill>
                  <a:srgbClr val="FFFFFF"/>
                </a:solidFill>
                <a:latin typeface="Liberation Sans"/>
                <a:ea typeface="Liberation Sans"/>
                <a:cs typeface="Liberation Sans"/>
              </a:rPr>
              <a:t>HitPredict</a:t>
            </a:r>
          </a:p>
        </p:txBody>
      </p:sp>
      <p:sp>
        <p:nvSpPr>
          <p:cNvPr id="2" name="">
            <a:extLst xmlns:a="http://schemas.openxmlformats.org/drawingml/2006/main">
              <a:ext uri="{FF2B5EF4-FFF2-40B4-BE49-F238E27FC236}">
                <a16:creationId xmlns:a16="http://schemas.microsoft.com/office/drawing/2014/main" id="{2E111CA4-13BF-4E5D-85FC-37FCF59CCFB7}"/>
              </a:ext>
            </a:extLst>
          </p:cNvPr>
          <p:cNvSpPr>
            <a:spLocks xmlns:a="http://schemas.openxmlformats.org/drawingml/2006/main" noGrp="1"/>
          </p:cNvSpPr>
          <p:nvPr/>
        </p:nvSpPr>
        <p:spPr>
          <a:xfrm xmlns:a="http://schemas.openxmlformats.org/drawingml/2006/main">
            <a:off x="714375" y="246697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ADDBBE"/>
                </a:solidFill>
                <a:latin typeface="Liberation Sans"/>
                <a:ea typeface="Liberation Sans"/>
                <a:cs typeface="Liberation Sans"/>
              </a:defRPr>
            </a:pPr>
            <a:r>
              <a:rPr sz="3300" b="0">
                <a:solidFill>
                  <a:srgbClr val="ADDBBE"/>
                </a:solidFill>
                <a:latin typeface="Liberation Sans"/>
                <a:ea typeface="Liberation Sans"/>
                <a:cs typeface="Liberation Sans"/>
              </a:rPr>
              <a:t>Predicting Billboard Hits</a:t>
            </a:r>
          </a:p>
          <a:p xmlns:a="http://schemas.openxmlformats.org/drawingml/2006/main">
            <a:pPr>
              <a:defRPr sz="3300" b="0">
                <a:solidFill>
                  <a:srgbClr val="ADDBBE"/>
                </a:solidFill>
                <a:latin typeface="Liberation Sans"/>
                <a:ea typeface="Liberation Sans"/>
                <a:cs typeface="Liberation Sans"/>
              </a:defRPr>
            </a:pPr>
            <a:r>
              <a:rPr sz="3300" b="0">
                <a:solidFill>
                  <a:srgbClr val="ADDBBE"/>
                </a:solidFill>
                <a:latin typeface="Liberation Sans"/>
                <a:ea typeface="Liberation Sans"/>
                <a:cs typeface="Liberation Sans"/>
              </a:rPr>
              <a:t>Using Spotify Data</a:t>
            </a:r>
          </a:p>
        </p:txBody>
      </p:sp>
      <p:sp>
        <p:nvSpPr>
          <p:cNvPr id="3" name="">
            <a:extLst xmlns:a="http://schemas.openxmlformats.org/drawingml/2006/main">
              <a:ext uri="{FF2B5EF4-FFF2-40B4-BE49-F238E27FC236}">
                <a16:creationId xmlns:a16="http://schemas.microsoft.com/office/drawing/2014/main" id="{3974122F-0F17-4CC6-A761-7306E68AA678}"/>
              </a:ext>
            </a:extLst>
          </p:cNvPr>
          <p:cNvSpPr>
            <a:spLocks xmlns:a="http://schemas.openxmlformats.org/drawingml/2006/main" noGrp="1"/>
          </p:cNvSpPr>
          <p:nvPr/>
        </p:nvSpPr>
        <p:spPr>
          <a:xfrm xmlns:a="http://schemas.openxmlformats.org/drawingml/2006/main">
            <a:off x="714375" y="4286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Liberation Sans"/>
                <a:ea typeface="Liberation Sans"/>
                <a:cs typeface="Liberation Sans"/>
              </a:defRPr>
            </a:pPr>
            <a:r>
              <a:rPr sz="1725" b="0">
                <a:solidFill>
                  <a:srgbClr val="FFFFFF"/>
                </a:solidFill>
                <a:latin typeface="Liberation Sans"/>
                <a:ea typeface="Liberation Sans"/>
                <a:cs typeface="Liberation Sans"/>
              </a:rPr>
              <a:t>PROJECT 21   /   UE24CS352A MACHINE LEARNING</a:t>
            </a:r>
          </a:p>
        </p:txBody>
      </p:sp>
      <p:sp>
        <p:nvSpPr>
          <p:cNvPr id="4" name="">
            <a:extLst xmlns:a="http://schemas.openxmlformats.org/drawingml/2006/main">
              <a:ext uri="{FF2B5EF4-FFF2-40B4-BE49-F238E27FC236}">
                <a16:creationId xmlns:a16="http://schemas.microsoft.com/office/drawing/2014/main" id="{7221C477-FF70-43A9-A18E-368256336D1A}"/>
              </a:ext>
            </a:extLst>
          </p:cNvPr>
          <p:cNvSpPr>
            <a:spLocks xmlns:a="http://schemas.openxmlformats.org/drawingml/2006/main" noGrp="1"/>
          </p:cNvSpPr>
          <p:nvPr/>
        </p:nvSpPr>
        <p:spPr>
          <a:xfrm xmlns:a="http://schemas.openxmlformats.org/drawingml/2006/main">
            <a:off x="714375" y="48768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Liberation Sans"/>
                <a:ea typeface="Liberation Sans"/>
                <a:cs typeface="Liberation Sans"/>
              </a:defRPr>
            </a:pPr>
            <a:r>
              <a:rPr sz="1950" b="0">
                <a:solidFill>
                  <a:srgbClr val="FFFFFF"/>
                </a:solidFill>
                <a:latin typeface="Liberation Sans"/>
                <a:ea typeface="Liberation Sans"/>
                <a:cs typeface="Liberation Sans"/>
              </a:rPr>
              <a:t>N S RAJ NANJAPPA · PES1UG24CS287</a:t>
            </a:r>
          </a:p>
          <a:p xmlns:a="http://schemas.openxmlformats.org/drawingml/2006/main">
            <a:pPr>
              <a:defRPr sz="1950" b="0">
                <a:solidFill>
                  <a:srgbClr val="FFFFFF"/>
                </a:solidFill>
                <a:latin typeface="Liberation Sans"/>
                <a:ea typeface="Liberation Sans"/>
                <a:cs typeface="Liberation Sans"/>
              </a:defRPr>
            </a:pPr>
            <a:r>
              <a:rPr sz="1950" b="0">
                <a:solidFill>
                  <a:srgbClr val="FFFFFF"/>
                </a:solidFill>
                <a:latin typeface="Liberation Sans"/>
                <a:ea typeface="Liberation Sans"/>
                <a:cs typeface="Liberation Sans"/>
              </a:rPr>
              <a:t>NAGARAJ HEGDE · PES1UG24CS288</a:t>
            </a:r>
          </a:p>
        </p:txBody>
      </p:sp>
      <p:sp>
        <p:nvSpPr>
          <p:cNvPr id="5" name="">
            <a:extLst xmlns:a="http://schemas.openxmlformats.org/drawingml/2006/main">
              <a:ext uri="{FF2B5EF4-FFF2-40B4-BE49-F238E27FC236}">
                <a16:creationId xmlns:a16="http://schemas.microsoft.com/office/drawing/2014/main" id="{082B1ED7-A8C4-4462-B3B1-3EB01FD31B5F}"/>
              </a:ext>
            </a:extLst>
          </p:cNvPr>
          <p:cNvSpPr>
            <a:spLocks xmlns:a="http://schemas.openxmlformats.org/drawingml/2006/main" noGrp="1"/>
          </p:cNvSpPr>
          <p:nvPr/>
        </p:nvSpPr>
        <p:spPr>
          <a:xfrm xmlns:a="http://schemas.openxmlformats.org/drawingml/2006/main">
            <a:off x="714375" y="6076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DDBBE"/>
                </a:solidFill>
                <a:latin typeface="Liberation Sans"/>
                <a:ea typeface="Liberation Sans"/>
                <a:cs typeface="Liberation Sans"/>
              </a:defRPr>
            </a:pPr>
            <a:r>
              <a:rPr sz="1575" b="0">
                <a:solidFill>
                  <a:srgbClr val="ADDBBE"/>
                </a:solidFill>
                <a:latin typeface="Liberation Sans"/>
                <a:ea typeface="Liberation Sans"/>
                <a:cs typeface="Liberation Sans"/>
              </a:rPr>
              <a:t>E SECTION   /   OCTOBER 2026</a:t>
            </a:r>
          </a:p>
        </p:txBody>
      </p:sp>
    </p:spTree>
    <p:extLst>
      <p:ext uri="{BB962C8B-B14F-4D97-AF65-F5344CB8AC3E}">
        <p14:creationId xmlns:p14="http://schemas.microsoft.com/office/powerpoint/2010/main" val="11958129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326894-1EA5-4316-A31D-CF2B412C5007}"/>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The prediction task</a:t>
            </a:r>
          </a:p>
        </p:txBody>
      </p:sp>
      <p:sp>
        <p:nvSpPr>
          <p:cNvPr id="2" name="">
            <a:extLst xmlns:a="http://schemas.openxmlformats.org/drawingml/2006/main">
              <a:ext uri="{FF2B5EF4-FFF2-40B4-BE49-F238E27FC236}">
                <a16:creationId xmlns:a16="http://schemas.microsoft.com/office/drawing/2014/main" id="{5D67655A-1445-45E4-BD7B-6A2B6DB673B8}"/>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C21AA945-766B-41FA-8C35-86D764D0DAA5}"/>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02</a:t>
            </a:r>
          </a:p>
        </p:txBody>
      </p:sp>
      <p:sp>
        <p:nvSpPr>
          <p:cNvPr id="4" name="">
            <a:extLst xmlns:a="http://schemas.openxmlformats.org/drawingml/2006/main">
              <a:ext uri="{FF2B5EF4-FFF2-40B4-BE49-F238E27FC236}">
                <a16:creationId xmlns:a16="http://schemas.microsoft.com/office/drawing/2014/main" id="{5F3FF08D-A3F5-465E-BDD0-4B1EF45FF8CD}"/>
              </a:ext>
            </a:extLst>
          </p:cNvPr>
          <p:cNvSpPr>
            <a:spLocks xmlns:a="http://schemas.openxmlformats.org/drawingml/2006/main" noGrp="1"/>
          </p:cNvSpPr>
          <p:nvPr/>
        </p:nvSpPr>
        <p:spPr>
          <a:xfrm xmlns:a="http://schemas.openxmlformats.org/drawingml/2006/main">
            <a:off x="666750" y="15716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Input</a:t>
            </a:r>
          </a:p>
        </p:txBody>
      </p:sp>
      <p:sp>
        <p:nvSpPr>
          <p:cNvPr id="5" name="">
            <a:extLst xmlns:a="http://schemas.openxmlformats.org/drawingml/2006/main">
              <a:ext uri="{FF2B5EF4-FFF2-40B4-BE49-F238E27FC236}">
                <a16:creationId xmlns:a16="http://schemas.microsoft.com/office/drawing/2014/main" id="{99838282-CE98-47F5-94EB-FBCFA4B618C6}"/>
              </a:ext>
            </a:extLst>
          </p:cNvPr>
          <p:cNvSpPr>
            <a:spLocks xmlns:a="http://schemas.openxmlformats.org/drawingml/2006/main" noGrp="1"/>
          </p:cNvSpPr>
          <p:nvPr/>
        </p:nvSpPr>
        <p:spPr>
          <a:xfrm xmlns:a="http://schemas.openxmlformats.org/drawingml/2006/main">
            <a:off x="4000500" y="1571625"/>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Nine numeric Spotify audio features</a:t>
            </a:r>
          </a:p>
        </p:txBody>
      </p:sp>
      <p:sp>
        <p:nvSpPr>
          <p:cNvPr id="6" name="">
            <a:extLst xmlns:a="http://schemas.openxmlformats.org/drawingml/2006/main">
              <a:ext uri="{FF2B5EF4-FFF2-40B4-BE49-F238E27FC236}">
                <a16:creationId xmlns:a16="http://schemas.microsoft.com/office/drawing/2014/main" id="{D25A5D2D-71B8-4580-8557-555B706DDD08}"/>
              </a:ext>
            </a:extLst>
          </p:cNvPr>
          <p:cNvSpPr>
            <a:spLocks xmlns:a="http://schemas.openxmlformats.org/drawingml/2006/main" noGrp="1"/>
          </p:cNvSpPr>
          <p:nvPr/>
        </p:nvSpPr>
        <p:spPr>
          <a:xfrm xmlns:a="http://schemas.openxmlformats.org/drawingml/2006/main">
            <a:off x="666750" y="27622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Output</a:t>
            </a:r>
          </a:p>
        </p:txBody>
      </p:sp>
      <p:sp>
        <p:nvSpPr>
          <p:cNvPr id="7" name="">
            <a:extLst xmlns:a="http://schemas.openxmlformats.org/drawingml/2006/main">
              <a:ext uri="{FF2B5EF4-FFF2-40B4-BE49-F238E27FC236}">
                <a16:creationId xmlns:a16="http://schemas.microsoft.com/office/drawing/2014/main" id="{9B0867CD-BF6A-492B-AB8C-75E9A098809D}"/>
              </a:ext>
            </a:extLst>
          </p:cNvPr>
          <p:cNvSpPr>
            <a:spLocks xmlns:a="http://schemas.openxmlformats.org/drawingml/2006/main" noGrp="1"/>
          </p:cNvSpPr>
          <p:nvPr/>
        </p:nvSpPr>
        <p:spPr>
          <a:xfrm xmlns:a="http://schemas.openxmlformats.org/drawingml/2006/main">
            <a:off x="4000500" y="276225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A model score and a hit / non-hit label</a:t>
            </a:r>
          </a:p>
        </p:txBody>
      </p:sp>
      <p:sp>
        <p:nvSpPr>
          <p:cNvPr id="8" name="">
            <a:extLst xmlns:a="http://schemas.openxmlformats.org/drawingml/2006/main">
              <a:ext uri="{FF2B5EF4-FFF2-40B4-BE49-F238E27FC236}">
                <a16:creationId xmlns:a16="http://schemas.microsoft.com/office/drawing/2014/main" id="{092F39C6-4EEC-45C3-9DBB-A5219FE4F57A}"/>
              </a:ext>
            </a:extLst>
          </p:cNvPr>
          <p:cNvSpPr>
            <a:spLocks xmlns:a="http://schemas.openxmlformats.org/drawingml/2006/main" noGrp="1"/>
          </p:cNvSpPr>
          <p:nvPr/>
        </p:nvSpPr>
        <p:spPr>
          <a:xfrm xmlns:a="http://schemas.openxmlformats.org/drawingml/2006/main">
            <a:off x="666750" y="39528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Evaluation question</a:t>
            </a:r>
          </a:p>
        </p:txBody>
      </p:sp>
      <p:sp>
        <p:nvSpPr>
          <p:cNvPr id="9" name="">
            <a:extLst xmlns:a="http://schemas.openxmlformats.org/drawingml/2006/main">
              <a:ext uri="{FF2B5EF4-FFF2-40B4-BE49-F238E27FC236}">
                <a16:creationId xmlns:a16="http://schemas.microsoft.com/office/drawing/2014/main" id="{773053D6-CAAD-4ACF-867A-1107AEBC2C52}"/>
              </a:ext>
            </a:extLst>
          </p:cNvPr>
          <p:cNvSpPr>
            <a:spLocks xmlns:a="http://schemas.openxmlformats.org/drawingml/2006/main" noGrp="1"/>
          </p:cNvSpPr>
          <p:nvPr/>
        </p:nvSpPr>
        <p:spPr>
          <a:xfrm xmlns:a="http://schemas.openxmlformats.org/drawingml/2006/main">
            <a:off x="4000500" y="3952875"/>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Can the model classify tracks by artists absent from training?</a:t>
            </a:r>
          </a:p>
        </p:txBody>
      </p:sp>
      <p:sp>
        <p:nvSpPr>
          <p:cNvPr id="10" name="">
            <a:extLst xmlns:a="http://schemas.openxmlformats.org/drawingml/2006/main">
              <a:ext uri="{FF2B5EF4-FFF2-40B4-BE49-F238E27FC236}">
                <a16:creationId xmlns:a16="http://schemas.microsoft.com/office/drawing/2014/main" id="{793D4FC0-5EAA-4C16-A47C-C552339A3A46}"/>
              </a:ext>
            </a:extLst>
          </p:cNvPr>
          <p:cNvSpPr>
            <a:spLocks xmlns:a="http://schemas.openxmlformats.org/drawingml/2006/main" noGrp="1"/>
          </p:cNvSpPr>
          <p:nvPr/>
        </p:nvSpPr>
        <p:spPr>
          <a:xfrm xmlns:a="http://schemas.openxmlformats.org/drawingml/2006/main">
            <a:off x="666750" y="5572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633B"/>
                </a:solidFill>
                <a:latin typeface="Liberation Sans"/>
                <a:ea typeface="Liberation Sans"/>
                <a:cs typeface="Liberation Sans"/>
              </a:defRPr>
            </a:pPr>
            <a:r>
              <a:rPr sz="1875" b="1">
                <a:solidFill>
                  <a:srgbClr val="14633B"/>
                </a:solidFill>
                <a:latin typeface="Liberation Sans"/>
                <a:ea typeface="Liberation Sans"/>
                <a:cs typeface="Liberation Sans"/>
              </a:rPr>
              <a:t>Historical dataset classification. Future chart forecasting requires additional evidence.</a:t>
            </a:r>
          </a:p>
        </p:txBody>
      </p:sp>
    </p:spTree>
    <p:extLst>
      <p:ext uri="{BB962C8B-B14F-4D97-AF65-F5344CB8AC3E}">
        <p14:creationId xmlns:p14="http://schemas.microsoft.com/office/powerpoint/2010/main" val="227403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F62993-F5FE-471E-AA5E-3CC6183E1CF1}"/>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The original dataset</a:t>
            </a:r>
          </a:p>
        </p:txBody>
      </p:sp>
      <p:sp>
        <p:nvSpPr>
          <p:cNvPr id="2" name="">
            <a:extLst xmlns:a="http://schemas.openxmlformats.org/drawingml/2006/main">
              <a:ext uri="{FF2B5EF4-FFF2-40B4-BE49-F238E27FC236}">
                <a16:creationId xmlns:a16="http://schemas.microsoft.com/office/drawing/2014/main" id="{110DEC36-A3F8-4772-8769-7D0778845086}"/>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59D39EC1-8754-44CA-A845-8633C8B80C2D}"/>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03</a:t>
            </a:r>
          </a:p>
        </p:txBody>
      </p:sp>
      <p:sp>
        <p:nvSpPr>
          <p:cNvPr id="4" name="">
            <a:extLst xmlns:a="http://schemas.openxmlformats.org/drawingml/2006/main">
              <a:ext uri="{FF2B5EF4-FFF2-40B4-BE49-F238E27FC236}">
                <a16:creationId xmlns:a16="http://schemas.microsoft.com/office/drawing/2014/main" id="{8C824446-1261-4B32-8501-F14098B541E0}"/>
              </a:ext>
            </a:extLst>
          </p:cNvPr>
          <p:cNvSpPr>
            <a:spLocks xmlns:a="http://schemas.openxmlformats.org/drawingml/2006/main" noGrp="1"/>
          </p:cNvSpPr>
          <p:nvPr/>
        </p:nvSpPr>
        <p:spPr>
          <a:xfrm xmlns:a="http://schemas.openxmlformats.org/drawingml/2006/main">
            <a:off x="666750" y="15240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14633B"/>
                </a:solidFill>
                <a:latin typeface="Liberation Sans"/>
                <a:ea typeface="Liberation Sans"/>
                <a:cs typeface="Liberation Sans"/>
              </a:defRPr>
            </a:pPr>
            <a:r>
              <a:rPr sz="5850" b="1">
                <a:solidFill>
                  <a:srgbClr val="14633B"/>
                </a:solidFill>
                <a:latin typeface="Liberation Sans"/>
                <a:ea typeface="Liberation Sans"/>
                <a:cs typeface="Liberation Sans"/>
              </a:rPr>
              <a:t>4,019</a:t>
            </a:r>
          </a:p>
        </p:txBody>
      </p:sp>
      <p:sp>
        <p:nvSpPr>
          <p:cNvPr id="5" name="">
            <a:extLst xmlns:a="http://schemas.openxmlformats.org/drawingml/2006/main">
              <a:ext uri="{FF2B5EF4-FFF2-40B4-BE49-F238E27FC236}">
                <a16:creationId xmlns:a16="http://schemas.microsoft.com/office/drawing/2014/main" id="{599ACF2F-A480-408F-A2F1-BFB9BCF4B241}"/>
              </a:ext>
            </a:extLst>
          </p:cNvPr>
          <p:cNvSpPr>
            <a:spLocks xmlns:a="http://schemas.openxmlformats.org/drawingml/2006/main" noGrp="1"/>
          </p:cNvSpPr>
          <p:nvPr/>
        </p:nvSpPr>
        <p:spPr>
          <a:xfrm xmlns:a="http://schemas.openxmlformats.org/drawingml/2006/main">
            <a:off x="714375" y="2552700"/>
            <a:ext cx="1019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3127"/>
                </a:solidFill>
                <a:latin typeface="Liberation Sans"/>
                <a:ea typeface="Liberation Sans"/>
                <a:cs typeface="Liberation Sans"/>
              </a:defRPr>
            </a:pPr>
            <a:r>
              <a:rPr sz="2325" b="0">
                <a:solidFill>
                  <a:srgbClr val="153127"/>
                </a:solidFill>
                <a:latin typeface="Liberation Sans"/>
                <a:ea typeface="Liberation Sans"/>
                <a:cs typeface="Liberation Sans"/>
              </a:rPr>
              <a:t>tracks after removing 21 duplicate songs</a:t>
            </a:r>
          </a:p>
        </p:txBody>
      </p:sp>
      <p:graphicFrame>
        <p:nvGraphicFramePr>
          <p:cNvPr id="13" name=""/>
          <p:cNvGraphicFramePr/>
          <p:nvPr/>
        </p:nvGraphicFramePr>
        <p:xfrm>
          <a:off xmlns:a="http://schemas.openxmlformats.org/drawingml/2006/main" x="666750" y="3476625"/>
          <a:ext xmlns:a="http://schemas.openxmlformats.org/drawingml/2006/main" cx="10858500" cy="1428750"/>
        </p:xfrm>
        <a:graphic xmlns:a="http://schemas.openxmlformats.org/drawingml/2006/main">
          <a:graphicData uri="http://schemas.openxmlformats.org/drawingml/2006/table">
            <a:tbl>
              <a:tblPr/>
              <a:tblGrid>
                <a:gridCol w="2714625"/>
                <a:gridCol w="2714625"/>
                <a:gridCol w="2714625"/>
                <a:gridCol w="2714625"/>
              </a:tblGrid>
              <a:tr h="714375">
                <a:tc>
                  <a:txBody>
                    <a:bodyPr/>
                    <a:lstStyle/>
                    <a:p>
                      <a:r>
                        <a:rPr sz="1875" b="1">
                          <a:solidFill>
                            <a:srgbClr val="153127"/>
                          </a:solidFill>
                          <a:latin typeface="Liberation Sans"/>
                          <a:ea typeface="Liberation Sans"/>
                          <a:cs typeface="Liberation Sans"/>
                        </a:rPr>
                        <a:t>Source rows</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Hit labels</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Non-hit labels</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Artists</a:t>
                      </a:r>
                    </a:p>
                  </a:txBody>
                  <a:tcPr marL="142875" marR="142875" marT="114300" marB="95250">
                    <a:solidFill>
                      <a:srgbClr val="E8F2EC"/>
                    </a:solidFill>
                  </a:tcPr>
                </a:tc>
              </a:tr>
              <a:tr h="714375">
                <a:tc>
                  <a:txBody>
                    <a:bodyPr/>
                    <a:lstStyle/>
                    <a:p>
                      <a:r>
                        <a:rPr sz="1875" b="0">
                          <a:solidFill>
                            <a:srgbClr val="153127"/>
                          </a:solidFill>
                          <a:latin typeface="Liberation Sans"/>
                          <a:ea typeface="Liberation Sans"/>
                          <a:cs typeface="Liberation Sans"/>
                        </a:rPr>
                        <a:t>4,040</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1,595</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2,424</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2,181</a:t>
                      </a:r>
                    </a:p>
                  </a:txBody>
                  <a:tcPr marL="142875" marR="142875" marT="114300" marB="9525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B89898E-271C-4C84-BCBC-FF85DC3E8CCE}"/>
              </a:ext>
            </a:extLst>
          </p:cNvPr>
          <p:cNvSpPr>
            <a:spLocks xmlns:a="http://schemas.openxmlformats.org/drawingml/2006/main" noGrp="1"/>
          </p:cNvSpPr>
          <p:nvPr/>
        </p:nvSpPr>
        <p:spPr>
          <a:xfrm xmlns:a="http://schemas.openxmlformats.org/drawingml/2006/main">
            <a:off x="714375" y="52387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C6D64"/>
                </a:solidFill>
                <a:latin typeface="Liberation Sans"/>
                <a:ea typeface="Liberation Sans"/>
                <a:cs typeface="Liberation Sans"/>
              </a:defRPr>
            </a:pPr>
            <a:r>
              <a:rPr sz="1950" b="0">
                <a:solidFill>
                  <a:srgbClr val="5C6D64"/>
                </a:solidFill>
                <a:latin typeface="Liberation Sans"/>
                <a:ea typeface="Liberation Sans"/>
                <a:cs typeface="Liberation Sans"/>
              </a:rPr>
              <a:t>Labels and audio features come from the authors’ archive.</a:t>
            </a:r>
          </a:p>
          <a:p xmlns:a="http://schemas.openxmlformats.org/drawingml/2006/main">
            <a:pPr>
              <a:defRPr sz="1950" b="0">
                <a:solidFill>
                  <a:srgbClr val="5C6D64"/>
                </a:solidFill>
                <a:latin typeface="Liberation Sans"/>
                <a:ea typeface="Liberation Sans"/>
                <a:cs typeface="Liberation Sans"/>
              </a:defRPr>
            </a:pPr>
            <a:r>
              <a:rPr sz="1950" b="0">
                <a:solidFill>
                  <a:srgbClr val="5C6D64"/>
                </a:solidFill>
                <a:latin typeface="Liberation Sans"/>
                <a:ea typeface="Liberation Sans"/>
                <a:cs typeface="Liberation Sans"/>
              </a:rPr>
              <a:t>The dated CSV is retained as a reference and excluded from training.</a:t>
            </a:r>
          </a:p>
        </p:txBody>
      </p:sp>
    </p:spTree>
    <p:extLst>
      <p:ext uri="{BB962C8B-B14F-4D97-AF65-F5344CB8AC3E}">
        <p14:creationId xmlns:p14="http://schemas.microsoft.com/office/powerpoint/2010/main" val="1364714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E7A39E-DC4E-43D3-A18D-751A4D532A28}"/>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Audio features and excluded fields</a:t>
            </a:r>
          </a:p>
        </p:txBody>
      </p:sp>
      <p:sp>
        <p:nvSpPr>
          <p:cNvPr id="2" name="">
            <a:extLst xmlns:a="http://schemas.openxmlformats.org/drawingml/2006/main">
              <a:ext uri="{FF2B5EF4-FFF2-40B4-BE49-F238E27FC236}">
                <a16:creationId xmlns:a16="http://schemas.microsoft.com/office/drawing/2014/main" id="{730FC213-E225-4A42-939E-6D1AF7E53738}"/>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1E86BC89-2A4A-4939-B1D1-B259FE3A733E}"/>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04</a:t>
            </a:r>
          </a:p>
        </p:txBody>
      </p:sp>
      <p:sp>
        <p:nvSpPr>
          <p:cNvPr id="4" name="">
            <a:extLst xmlns:a="http://schemas.openxmlformats.org/drawingml/2006/main">
              <a:ext uri="{FF2B5EF4-FFF2-40B4-BE49-F238E27FC236}">
                <a16:creationId xmlns:a16="http://schemas.microsoft.com/office/drawing/2014/main" id="{99905925-CD35-45AA-BECA-AEB3491599D4}"/>
              </a:ext>
            </a:extLst>
          </p:cNvPr>
          <p:cNvSpPr>
            <a:spLocks xmlns:a="http://schemas.openxmlformats.org/drawingml/2006/main" noGrp="1"/>
          </p:cNvSpPr>
          <p:nvPr/>
        </p:nvSpPr>
        <p:spPr>
          <a:xfrm xmlns:a="http://schemas.openxmlformats.org/drawingml/2006/main">
            <a:off x="666750" y="15716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Rhythm and intensity</a:t>
            </a:r>
          </a:p>
        </p:txBody>
      </p:sp>
      <p:sp>
        <p:nvSpPr>
          <p:cNvPr id="5" name="">
            <a:extLst xmlns:a="http://schemas.openxmlformats.org/drawingml/2006/main">
              <a:ext uri="{FF2B5EF4-FFF2-40B4-BE49-F238E27FC236}">
                <a16:creationId xmlns:a16="http://schemas.microsoft.com/office/drawing/2014/main" id="{85B47FDC-C23B-477A-AE3D-4EB31A638961}"/>
              </a:ext>
            </a:extLst>
          </p:cNvPr>
          <p:cNvSpPr>
            <a:spLocks xmlns:a="http://schemas.openxmlformats.org/drawingml/2006/main" noGrp="1"/>
          </p:cNvSpPr>
          <p:nvPr/>
        </p:nvSpPr>
        <p:spPr>
          <a:xfrm xmlns:a="http://schemas.openxmlformats.org/drawingml/2006/main">
            <a:off x="4000500" y="1571625"/>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Danceability, energy, loudness, tempo</a:t>
            </a:r>
          </a:p>
        </p:txBody>
      </p:sp>
      <p:sp>
        <p:nvSpPr>
          <p:cNvPr id="6" name="">
            <a:extLst xmlns:a="http://schemas.openxmlformats.org/drawingml/2006/main">
              <a:ext uri="{FF2B5EF4-FFF2-40B4-BE49-F238E27FC236}">
                <a16:creationId xmlns:a16="http://schemas.microsoft.com/office/drawing/2014/main" id="{00721433-0404-4FD9-B687-C63A9F5F93C3}"/>
              </a:ext>
            </a:extLst>
          </p:cNvPr>
          <p:cNvSpPr>
            <a:spLocks xmlns:a="http://schemas.openxmlformats.org/drawingml/2006/main" noGrp="1"/>
          </p:cNvSpPr>
          <p:nvPr/>
        </p:nvSpPr>
        <p:spPr>
          <a:xfrm xmlns:a="http://schemas.openxmlformats.org/drawingml/2006/main">
            <a:off x="666750" y="28098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Texture and content</a:t>
            </a:r>
          </a:p>
        </p:txBody>
      </p:sp>
      <p:sp>
        <p:nvSpPr>
          <p:cNvPr id="7" name="">
            <a:extLst xmlns:a="http://schemas.openxmlformats.org/drawingml/2006/main">
              <a:ext uri="{FF2B5EF4-FFF2-40B4-BE49-F238E27FC236}">
                <a16:creationId xmlns:a16="http://schemas.microsoft.com/office/drawing/2014/main" id="{C86F7119-8555-4923-9D82-35B3DDC945A4}"/>
              </a:ext>
            </a:extLst>
          </p:cNvPr>
          <p:cNvSpPr>
            <a:spLocks xmlns:a="http://schemas.openxmlformats.org/drawingml/2006/main" noGrp="1"/>
          </p:cNvSpPr>
          <p:nvPr/>
        </p:nvSpPr>
        <p:spPr>
          <a:xfrm xmlns:a="http://schemas.openxmlformats.org/drawingml/2006/main">
            <a:off x="4000500" y="2809875"/>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Speechiness, acousticness, instrumentalness</a:t>
            </a:r>
          </a:p>
        </p:txBody>
      </p:sp>
      <p:sp>
        <p:nvSpPr>
          <p:cNvPr id="8" name="">
            <a:extLst xmlns:a="http://schemas.openxmlformats.org/drawingml/2006/main">
              <a:ext uri="{FF2B5EF4-FFF2-40B4-BE49-F238E27FC236}">
                <a16:creationId xmlns:a16="http://schemas.microsoft.com/office/drawing/2014/main" id="{0B6B26F8-939B-4831-AFF9-E61D6EBB8EF0}"/>
              </a:ext>
            </a:extLst>
          </p:cNvPr>
          <p:cNvSpPr>
            <a:spLocks xmlns:a="http://schemas.openxmlformats.org/drawingml/2006/main" noGrp="1"/>
          </p:cNvSpPr>
          <p:nvPr/>
        </p:nvSpPr>
        <p:spPr>
          <a:xfrm xmlns:a="http://schemas.openxmlformats.org/drawingml/2006/main">
            <a:off x="666750" y="40481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Performance and mood</a:t>
            </a:r>
          </a:p>
        </p:txBody>
      </p:sp>
      <p:sp>
        <p:nvSpPr>
          <p:cNvPr id="9" name="">
            <a:extLst xmlns:a="http://schemas.openxmlformats.org/drawingml/2006/main">
              <a:ext uri="{FF2B5EF4-FFF2-40B4-BE49-F238E27FC236}">
                <a16:creationId xmlns:a16="http://schemas.microsoft.com/office/drawing/2014/main" id="{0CE4D999-4C57-4DA3-B96A-92A93F7A4D91}"/>
              </a:ext>
            </a:extLst>
          </p:cNvPr>
          <p:cNvSpPr>
            <a:spLocks xmlns:a="http://schemas.openxmlformats.org/drawingml/2006/main" noGrp="1"/>
          </p:cNvSpPr>
          <p:nvPr/>
        </p:nvSpPr>
        <p:spPr>
          <a:xfrm xmlns:a="http://schemas.openxmlformats.org/drawingml/2006/main">
            <a:off x="4000500" y="4048125"/>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Liveness and valence</a:t>
            </a:r>
          </a:p>
        </p:txBody>
      </p:sp>
      <p:sp>
        <p:nvSpPr>
          <p:cNvPr id="10" name="">
            <a:extLst xmlns:a="http://schemas.openxmlformats.org/drawingml/2006/main">
              <a:ext uri="{FF2B5EF4-FFF2-40B4-BE49-F238E27FC236}">
                <a16:creationId xmlns:a16="http://schemas.microsoft.com/office/drawing/2014/main" id="{25848898-00FE-4116-8A5D-C018DD730BEB}"/>
              </a:ext>
            </a:extLst>
          </p:cNvPr>
          <p:cNvSpPr>
            <a:spLocks xmlns:a="http://schemas.openxmlformats.org/drawingml/2006/main" noGrp="1"/>
          </p:cNvSpPr>
          <p:nvPr/>
        </p:nvSpPr>
        <p:spPr>
          <a:xfrm xmlns:a="http://schemas.openxmlformats.org/drawingml/2006/main">
            <a:off x="666750" y="56673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633B"/>
                </a:solidFill>
                <a:latin typeface="Liberation Sans"/>
                <a:ea typeface="Liberation Sans"/>
                <a:cs typeface="Liberation Sans"/>
              </a:defRPr>
            </a:pPr>
            <a:r>
              <a:rPr sz="1950" b="1">
                <a:solidFill>
                  <a:srgbClr val="14633B"/>
                </a:solidFill>
                <a:latin typeface="Liberation Sans"/>
                <a:ea typeface="Liberation Sans"/>
                <a:cs typeface="Liberation Sans"/>
              </a:rPr>
              <a:t>Excluded from prediction: names, ArtistScore, key and mode.</a:t>
            </a:r>
          </a:p>
        </p:txBody>
      </p:sp>
    </p:spTree>
    <p:extLst>
      <p:ext uri="{BB962C8B-B14F-4D97-AF65-F5344CB8AC3E}">
        <p14:creationId xmlns:p14="http://schemas.microsoft.com/office/powerpoint/2010/main" val="16081042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4CA1A4-DC0F-4C40-AB72-37D5AE048259}"/>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Artists stay separate across splits</a:t>
            </a:r>
          </a:p>
        </p:txBody>
      </p:sp>
      <p:sp>
        <p:nvSpPr>
          <p:cNvPr id="2" name="">
            <a:extLst xmlns:a="http://schemas.openxmlformats.org/drawingml/2006/main">
              <a:ext uri="{FF2B5EF4-FFF2-40B4-BE49-F238E27FC236}">
                <a16:creationId xmlns:a16="http://schemas.microsoft.com/office/drawing/2014/main" id="{9C51C3EC-2E36-4DF2-923B-FC035200E2E9}"/>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C247E335-AACB-4E70-BA95-7B61FA1E9093}"/>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05</a:t>
            </a:r>
          </a:p>
        </p:txBody>
      </p:sp>
      <p:graphicFrame>
        <p:nvGraphicFramePr>
          <p:cNvPr id="10" name=""/>
          <p:cNvGraphicFramePr/>
          <p:nvPr/>
        </p:nvGraphicFramePr>
        <p:xfrm>
          <a:off xmlns:a="http://schemas.openxmlformats.org/drawingml/2006/main" x="666750" y="1666875"/>
          <a:ext xmlns:a="http://schemas.openxmlformats.org/drawingml/2006/main" cx="10858500" cy="2667000"/>
        </p:xfrm>
        <a:graphic xmlns:a="http://schemas.openxmlformats.org/drawingml/2006/main">
          <a:graphicData uri="http://schemas.openxmlformats.org/drawingml/2006/table">
            <a:tbl>
              <a:tblPr/>
              <a:tblGrid>
                <a:gridCol w="3714750"/>
                <a:gridCol w="2381250"/>
                <a:gridCol w="2381250"/>
                <a:gridCol w="2381250"/>
              </a:tblGrid>
              <a:tr h="666750">
                <a:tc>
                  <a:txBody>
                    <a:bodyPr/>
                    <a:lstStyle/>
                    <a:p>
                      <a:r>
                        <a:rPr sz="1875" b="1">
                          <a:solidFill>
                            <a:srgbClr val="153127"/>
                          </a:solidFill>
                          <a:latin typeface="Liberation Sans"/>
                          <a:ea typeface="Liberation Sans"/>
                          <a:cs typeface="Liberation Sans"/>
                        </a:rPr>
                        <a:t>Partition</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Tracks</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Hits</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Groups</a:t>
                      </a:r>
                    </a:p>
                  </a:txBody>
                  <a:tcPr marL="142875" marR="142875" marT="114300" marB="95250">
                    <a:solidFill>
                      <a:srgbClr val="E8F2EC"/>
                    </a:solidFill>
                  </a:tcPr>
                </a:tc>
              </a:tr>
              <a:tr h="666750">
                <a:tc>
                  <a:txBody>
                    <a:bodyPr/>
                    <a:lstStyle/>
                    <a:p>
                      <a:r>
                        <a:rPr sz="1875" b="0">
                          <a:solidFill>
                            <a:srgbClr val="153127"/>
                          </a:solidFill>
                          <a:latin typeface="Liberation Sans"/>
                          <a:ea typeface="Liberation Sans"/>
                          <a:cs typeface="Liberation Sans"/>
                        </a:rPr>
                        <a:t>Training</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2,554</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1,011</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1,395</a:t>
                      </a:r>
                    </a:p>
                  </a:txBody>
                  <a:tcPr marL="142875" marR="142875" marT="114300" marB="95250">
                    <a:solidFill>
                      <a:srgbClr val="FFFFFF"/>
                    </a:solidFill>
                  </a:tcPr>
                </a:tc>
              </a:tr>
              <a:tr h="666750">
                <a:tc>
                  <a:txBody>
                    <a:bodyPr/>
                    <a:lstStyle/>
                    <a:p>
                      <a:r>
                        <a:rPr sz="1875" b="0">
                          <a:solidFill>
                            <a:srgbClr val="153127"/>
                          </a:solidFill>
                          <a:latin typeface="Liberation Sans"/>
                          <a:ea typeface="Liberation Sans"/>
                          <a:cs typeface="Liberation Sans"/>
                        </a:rPr>
                        <a:t>Validation</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641</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268</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349</a:t>
                      </a:r>
                    </a:p>
                  </a:txBody>
                  <a:tcPr marL="142875" marR="142875" marT="114300" marB="95250">
                    <a:solidFill>
                      <a:srgbClr val="FFFFFF"/>
                    </a:solidFill>
                  </a:tcPr>
                </a:tc>
              </a:tr>
              <a:tr h="666750">
                <a:tc>
                  <a:txBody>
                    <a:bodyPr/>
                    <a:lstStyle/>
                    <a:p>
                      <a:r>
                        <a:rPr sz="1875" b="0">
                          <a:solidFill>
                            <a:srgbClr val="153127"/>
                          </a:solidFill>
                          <a:latin typeface="Liberation Sans"/>
                          <a:ea typeface="Liberation Sans"/>
                          <a:cs typeface="Liberation Sans"/>
                        </a:rPr>
                        <a:t>Test</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824</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316</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437</a:t>
                      </a:r>
                    </a:p>
                  </a:txBody>
                  <a:tcPr marL="142875" marR="142875" marT="11430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9DCB552-E447-411A-985F-35EB68EC06F6}"/>
              </a:ext>
            </a:extLst>
          </p:cNvPr>
          <p:cNvSpPr>
            <a:spLocks xmlns:a="http://schemas.openxmlformats.org/drawingml/2006/main" noGrp="1"/>
          </p:cNvSpPr>
          <p:nvPr/>
        </p:nvSpPr>
        <p:spPr>
          <a:xfrm xmlns:a="http://schemas.openxmlformats.org/drawingml/2006/main">
            <a:off x="714375" y="47625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Training CV selects the model. Validation selects the cutoff.</a:t>
            </a:r>
          </a:p>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The test set evaluates the completed choice.</a:t>
            </a:r>
          </a:p>
        </p:txBody>
      </p:sp>
      <p:sp>
        <p:nvSpPr>
          <p:cNvPr id="6" name="">
            <a:extLst xmlns:a="http://schemas.openxmlformats.org/drawingml/2006/main">
              <a:ext uri="{FF2B5EF4-FFF2-40B4-BE49-F238E27FC236}">
                <a16:creationId xmlns:a16="http://schemas.microsoft.com/office/drawing/2014/main" id="{A3457BFD-8743-4537-8E2B-5CB210F95F9C}"/>
              </a:ext>
            </a:extLst>
          </p:cNvPr>
          <p:cNvSpPr>
            <a:spLocks xmlns:a="http://schemas.openxmlformats.org/drawingml/2006/main" noGrp="1"/>
          </p:cNvSpPr>
          <p:nvPr/>
        </p:nvSpPr>
        <p:spPr>
          <a:xfrm xmlns:a="http://schemas.openxmlformats.org/drawingml/2006/main">
            <a:off x="714375" y="58197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C6D64"/>
                </a:solidFill>
                <a:latin typeface="Liberation Sans"/>
                <a:ea typeface="Liberation Sans"/>
                <a:cs typeface="Liberation Sans"/>
              </a:defRPr>
            </a:pPr>
            <a:r>
              <a:rPr sz="1875" b="0">
                <a:solidFill>
                  <a:srgbClr val="5C6D64"/>
                </a:solidFill>
                <a:latin typeface="Liberation Sans"/>
                <a:ea typeface="Liberation Sans"/>
                <a:cs typeface="Liberation Sans"/>
              </a:rPr>
              <a:t>Imputation and scaling fit only inside each training fold.</a:t>
            </a:r>
          </a:p>
        </p:txBody>
      </p:sp>
    </p:spTree>
    <p:extLst>
      <p:ext uri="{BB962C8B-B14F-4D97-AF65-F5344CB8AC3E}">
        <p14:creationId xmlns:p14="http://schemas.microsoft.com/office/powerpoint/2010/main" val="1577390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DE46B8-CE04-4B3E-BA61-5172246671DE}"/>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Random forest leads training CV</a:t>
            </a:r>
          </a:p>
        </p:txBody>
      </p:sp>
      <p:sp>
        <p:nvSpPr>
          <p:cNvPr id="2" name="">
            <a:extLst xmlns:a="http://schemas.openxmlformats.org/drawingml/2006/main">
              <a:ext uri="{FF2B5EF4-FFF2-40B4-BE49-F238E27FC236}">
                <a16:creationId xmlns:a16="http://schemas.microsoft.com/office/drawing/2014/main" id="{1FEF32D4-99F0-425F-8AC6-1392868CCD0F}"/>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F71F21CE-DC1E-4B06-A64D-2FBDF8B81E70}"/>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06</a:t>
            </a:r>
          </a:p>
        </p:txBody>
      </p:sp>
      <p:graphicFrame>
        <p:nvGraphicFramePr>
          <p:cNvPr id="10" name="Chart"/>
          <p:cNvGraphicFramePr/>
          <p:nvPr/>
        </p:nvGraphicFramePr>
        <p:xfrm>
          <a:off xmlns:a="http://schemas.openxmlformats.org/drawingml/2006/main" x="666750" y="1495425"/>
          <a:ext xmlns:a="http://schemas.openxmlformats.org/drawingml/2006/main" cx="10668000" cy="3905250"/>
        </p:xfrm>
        <a:graphic xmlns:a="http://schemas.openxmlformats.org/drawingml/2006/main">
          <a:graphicData uri="http://schemas.openxmlformats.org/drawingml/2006/chart">
            <c:chart xmlns:r="http://schemas.openxmlformats.org/officeDocument/2006/relationships" xmlns:c="http://schemas.openxmlformats.org/drawingml/2006/chart" r:id="Rffc90f7572e34e21"/>
          </a:graphicData>
        </a:graphic>
      </p:graphicFrame>
      <p:sp>
        <p:nvSpPr>
          <p:cNvPr id="5" name="">
            <a:extLst xmlns:a="http://schemas.openxmlformats.org/drawingml/2006/main">
              <a:ext uri="{FF2B5EF4-FFF2-40B4-BE49-F238E27FC236}">
                <a16:creationId xmlns:a16="http://schemas.microsoft.com/office/drawing/2014/main" id="{D74809A5-C772-40FC-9A92-015CC8B4D661}"/>
              </a:ext>
            </a:extLst>
          </p:cNvPr>
          <p:cNvSpPr>
            <a:spLocks xmlns:a="http://schemas.openxmlformats.org/drawingml/2006/main" noGrp="1"/>
          </p:cNvSpPr>
          <p:nvPr/>
        </p:nvSpPr>
        <p:spPr>
          <a:xfrm xmlns:a="http://schemas.openxmlformats.org/drawingml/2006/main">
            <a:off x="714375" y="55530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C6D64"/>
                </a:solidFill>
                <a:latin typeface="Liberation Sans"/>
                <a:ea typeface="Liberation Sans"/>
                <a:cs typeface="Liberation Sans"/>
              </a:defRPr>
            </a:pPr>
            <a:r>
              <a:rPr sz="1875" b="0">
                <a:solidFill>
                  <a:srgbClr val="5C6D64"/>
                </a:solidFill>
                <a:latin typeface="Liberation Sans"/>
                <a:ea typeface="Liberation Sans"/>
                <a:cs typeface="Liberation Sans"/>
              </a:rPr>
              <a:t>Mean group CV ROC-AUC. Best configuration shown per family.</a:t>
            </a:r>
          </a:p>
        </p:txBody>
      </p:sp>
      <p:sp>
        <p:nvSpPr>
          <p:cNvPr id="6" name="">
            <a:extLst xmlns:a="http://schemas.openxmlformats.org/drawingml/2006/main">
              <a:ext uri="{FF2B5EF4-FFF2-40B4-BE49-F238E27FC236}">
                <a16:creationId xmlns:a16="http://schemas.microsoft.com/office/drawing/2014/main" id="{4780754B-9E9F-4CA1-A87E-2860D9E7727D}"/>
              </a:ext>
            </a:extLst>
          </p:cNvPr>
          <p:cNvSpPr>
            <a:spLocks xmlns:a="http://schemas.openxmlformats.org/drawingml/2006/main" noGrp="1"/>
          </p:cNvSpPr>
          <p:nvPr/>
        </p:nvSpPr>
        <p:spPr>
          <a:xfrm xmlns:a="http://schemas.openxmlformats.org/drawingml/2006/main">
            <a:off x="714375" y="59626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633B"/>
                </a:solidFill>
                <a:latin typeface="Liberation Sans"/>
                <a:ea typeface="Liberation Sans"/>
                <a:cs typeface="Liberation Sans"/>
              </a:defRPr>
            </a:pPr>
            <a:r>
              <a:rPr sz="1875" b="1">
                <a:solidFill>
                  <a:srgbClr val="14633B"/>
                </a:solidFill>
                <a:latin typeface="Liberation Sans"/>
                <a:ea typeface="Liberation Sans"/>
                <a:cs typeface="Liberation Sans"/>
              </a:rPr>
              <a:t>Selected forest: 250 trees, depth 16, minimum leaf size 5</a:t>
            </a:r>
          </a:p>
        </p:txBody>
      </p:sp>
    </p:spTree>
    <p:extLst>
      <p:ext uri="{BB962C8B-B14F-4D97-AF65-F5344CB8AC3E}">
        <p14:creationId xmlns:p14="http://schemas.microsoft.com/office/powerpoint/2010/main" val="11125099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418400-6484-4B3A-AEC1-594E94B2C3EC}"/>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Test ROC-AUC reaches 0.814</a:t>
            </a:r>
          </a:p>
        </p:txBody>
      </p:sp>
      <p:sp>
        <p:nvSpPr>
          <p:cNvPr id="2" name="">
            <a:extLst xmlns:a="http://schemas.openxmlformats.org/drawingml/2006/main">
              <a:ext uri="{FF2B5EF4-FFF2-40B4-BE49-F238E27FC236}">
                <a16:creationId xmlns:a16="http://schemas.microsoft.com/office/drawing/2014/main" id="{C96F00CE-895F-491F-8F2D-A9C5FE7A5D99}"/>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25B1AC15-EDFD-4ADE-953A-3C843CD0BB10}"/>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07</a:t>
            </a:r>
          </a:p>
        </p:txBody>
      </p:sp>
      <p:graphicFrame>
        <p:nvGraphicFramePr>
          <p:cNvPr id="10" name=""/>
          <p:cNvGraphicFramePr/>
          <p:nvPr/>
        </p:nvGraphicFramePr>
        <p:xfrm>
          <a:off xmlns:a="http://schemas.openxmlformats.org/drawingml/2006/main" x="666750" y="1666875"/>
          <a:ext xmlns:a="http://schemas.openxmlformats.org/drawingml/2006/main" cx="10858500" cy="3143250"/>
        </p:xfrm>
        <a:graphic xmlns:a="http://schemas.openxmlformats.org/drawingml/2006/main">
          <a:graphicData uri="http://schemas.openxmlformats.org/drawingml/2006/table">
            <a:tbl>
              <a:tblPr/>
              <a:tblGrid>
                <a:gridCol w="3143250"/>
                <a:gridCol w="2571750"/>
                <a:gridCol w="2571750"/>
                <a:gridCol w="2571750"/>
              </a:tblGrid>
              <a:tr h="628650">
                <a:tc>
                  <a:txBody>
                    <a:bodyPr/>
                    <a:lstStyle/>
                    <a:p>
                      <a:r>
                        <a:rPr sz="1875" b="1">
                          <a:solidFill>
                            <a:srgbClr val="153127"/>
                          </a:solidFill>
                          <a:latin typeface="Liberation Sans"/>
                          <a:ea typeface="Liberation Sans"/>
                          <a:cs typeface="Liberation Sans"/>
                        </a:rPr>
                        <a:t>Metric</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Cutoff 0.29</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Cutoff 0.50</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Majority</a:t>
                      </a:r>
                    </a:p>
                  </a:txBody>
                  <a:tcPr marL="142875" marR="142875" marT="114300" marB="95250">
                    <a:solidFill>
                      <a:srgbClr val="E8F2EC"/>
                    </a:solidFill>
                  </a:tcPr>
                </a:tc>
              </a:tr>
              <a:tr h="628650">
                <a:tc>
                  <a:txBody>
                    <a:bodyPr/>
                    <a:lstStyle/>
                    <a:p>
                      <a:r>
                        <a:rPr sz="1875" b="0">
                          <a:solidFill>
                            <a:srgbClr val="153127"/>
                          </a:solidFill>
                          <a:latin typeface="Liberation Sans"/>
                          <a:ea typeface="Liberation Sans"/>
                          <a:cs typeface="Liberation Sans"/>
                        </a:rPr>
                        <a:t>Accuracy</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70.87%</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74.76%</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61.65%</a:t>
                      </a:r>
                    </a:p>
                  </a:txBody>
                  <a:tcPr marL="142875" marR="142875" marT="114300" marB="95250">
                    <a:solidFill>
                      <a:srgbClr val="FFFFFF"/>
                    </a:solidFill>
                  </a:tcPr>
                </a:tc>
              </a:tr>
              <a:tr h="628650">
                <a:tc>
                  <a:txBody>
                    <a:bodyPr/>
                    <a:lstStyle/>
                    <a:p>
                      <a:r>
                        <a:rPr sz="1875" b="0">
                          <a:solidFill>
                            <a:srgbClr val="153127"/>
                          </a:solidFill>
                          <a:latin typeface="Liberation Sans"/>
                          <a:ea typeface="Liberation Sans"/>
                          <a:cs typeface="Liberation Sans"/>
                        </a:rPr>
                        <a:t>Precision</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57.69%</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68.24%</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0.00%</a:t>
                      </a:r>
                    </a:p>
                  </a:txBody>
                  <a:tcPr marL="142875" marR="142875" marT="114300" marB="95250">
                    <a:solidFill>
                      <a:srgbClr val="FFFFFF"/>
                    </a:solidFill>
                  </a:tcPr>
                </a:tc>
              </a:tr>
              <a:tr h="628650">
                <a:tc>
                  <a:txBody>
                    <a:bodyPr/>
                    <a:lstStyle/>
                    <a:p>
                      <a:r>
                        <a:rPr sz="1875" b="0">
                          <a:solidFill>
                            <a:srgbClr val="153127"/>
                          </a:solidFill>
                          <a:latin typeface="Liberation Sans"/>
                          <a:ea typeface="Liberation Sans"/>
                          <a:cs typeface="Liberation Sans"/>
                        </a:rPr>
                        <a:t>Recall</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90.19%</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63.92%</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0.00%</a:t>
                      </a:r>
                    </a:p>
                  </a:txBody>
                  <a:tcPr marL="142875" marR="142875" marT="114300" marB="95250">
                    <a:solidFill>
                      <a:srgbClr val="FFFFFF"/>
                    </a:solidFill>
                  </a:tcPr>
                </a:tc>
              </a:tr>
              <a:tr h="628650">
                <a:tc>
                  <a:txBody>
                    <a:bodyPr/>
                    <a:lstStyle/>
                    <a:p>
                      <a:r>
                        <a:rPr sz="1875" b="0">
                          <a:solidFill>
                            <a:srgbClr val="153127"/>
                          </a:solidFill>
                          <a:latin typeface="Liberation Sans"/>
                          <a:ea typeface="Liberation Sans"/>
                          <a:cs typeface="Liberation Sans"/>
                        </a:rPr>
                        <a:t>F1</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0.704</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0.660</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0.000</a:t>
                      </a:r>
                    </a:p>
                  </a:txBody>
                  <a:tcPr marL="142875" marR="142875" marT="11430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A0BB303-6682-4376-977E-CA0BBD78F23F}"/>
              </a:ext>
            </a:extLst>
          </p:cNvPr>
          <p:cNvSpPr>
            <a:spLocks xmlns:a="http://schemas.openxmlformats.org/drawingml/2006/main" noGrp="1"/>
          </p:cNvSpPr>
          <p:nvPr/>
        </p:nvSpPr>
        <p:spPr>
          <a:xfrm xmlns:a="http://schemas.openxmlformats.org/drawingml/2006/main">
            <a:off x="714375" y="5238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633B"/>
                </a:solidFill>
                <a:latin typeface="Liberation Sans"/>
                <a:ea typeface="Liberation Sans"/>
                <a:cs typeface="Liberation Sans"/>
              </a:defRPr>
            </a:pPr>
            <a:r>
              <a:rPr sz="2325" b="1">
                <a:solidFill>
                  <a:srgbClr val="14633B"/>
                </a:solidFill>
                <a:latin typeface="Liberation Sans"/>
                <a:ea typeface="Liberation Sans"/>
                <a:cs typeface="Liberation Sans"/>
              </a:rPr>
              <a:t>The validation-selected cutoff favors finding hits.</a:t>
            </a:r>
          </a:p>
        </p:txBody>
      </p:sp>
      <p:sp>
        <p:nvSpPr>
          <p:cNvPr id="6" name="">
            <a:extLst xmlns:a="http://schemas.openxmlformats.org/drawingml/2006/main">
              <a:ext uri="{FF2B5EF4-FFF2-40B4-BE49-F238E27FC236}">
                <a16:creationId xmlns:a16="http://schemas.microsoft.com/office/drawing/2014/main" id="{9E35494F-6F3D-423D-B7D3-899E7C7AC025}"/>
              </a:ext>
            </a:extLst>
          </p:cNvPr>
          <p:cNvSpPr>
            <a:spLocks xmlns:a="http://schemas.openxmlformats.org/drawingml/2006/main" noGrp="1"/>
          </p:cNvSpPr>
          <p:nvPr/>
        </p:nvSpPr>
        <p:spPr>
          <a:xfrm xmlns:a="http://schemas.openxmlformats.org/drawingml/2006/main">
            <a:off x="714375" y="58483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C6D64"/>
                </a:solidFill>
                <a:latin typeface="Liberation Sans"/>
                <a:ea typeface="Liberation Sans"/>
                <a:cs typeface="Liberation Sans"/>
              </a:defRPr>
            </a:pPr>
            <a:r>
              <a:rPr sz="1875" b="0">
                <a:solidFill>
                  <a:srgbClr val="5C6D64"/>
                </a:solidFill>
                <a:latin typeface="Liberation Sans"/>
                <a:ea typeface="Liberation Sans"/>
                <a:cs typeface="Liberation Sans"/>
              </a:rPr>
              <a:t>824 held-out tracks. AUC 95% group-bootstrap interval: 0.773-0.848.</a:t>
            </a:r>
          </a:p>
        </p:txBody>
      </p:sp>
    </p:spTree>
    <p:extLst>
      <p:ext uri="{BB962C8B-B14F-4D97-AF65-F5344CB8AC3E}">
        <p14:creationId xmlns:p14="http://schemas.microsoft.com/office/powerpoint/2010/main" val="10363443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5D1B6D-F195-4437-8CDA-562608416F96}"/>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High recall comes with false positives</a:t>
            </a:r>
          </a:p>
        </p:txBody>
      </p:sp>
      <p:sp>
        <p:nvSpPr>
          <p:cNvPr id="2" name="">
            <a:extLst xmlns:a="http://schemas.openxmlformats.org/drawingml/2006/main">
              <a:ext uri="{FF2B5EF4-FFF2-40B4-BE49-F238E27FC236}">
                <a16:creationId xmlns:a16="http://schemas.microsoft.com/office/drawing/2014/main" id="{6FB33E7E-0DCA-4EB8-8BE8-1B712A016294}"/>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0A9CEB13-8676-4583-A0BB-913113F73C65}"/>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08</a:t>
            </a:r>
          </a:p>
        </p:txBody>
      </p:sp>
      <p:graphicFrame>
        <p:nvGraphicFramePr>
          <p:cNvPr id="13" name=""/>
          <p:cNvGraphicFramePr/>
          <p:nvPr/>
        </p:nvGraphicFramePr>
        <p:xfrm>
          <a:off xmlns:a="http://schemas.openxmlformats.org/drawingml/2006/main" x="666750" y="1857375"/>
          <a:ext xmlns:a="http://schemas.openxmlformats.org/drawingml/2006/main" cx="6858000" cy="2476500"/>
        </p:xfrm>
        <a:graphic xmlns:a="http://schemas.openxmlformats.org/drawingml/2006/main">
          <a:graphicData uri="http://schemas.openxmlformats.org/drawingml/2006/table">
            <a:tbl>
              <a:tblPr/>
              <a:tblGrid>
                <a:gridCol w="2286000"/>
                <a:gridCol w="2286000"/>
                <a:gridCol w="2286000"/>
              </a:tblGrid>
              <a:tr h="825500">
                <a:tc>
                  <a:txBody>
                    <a:bodyPr/>
                    <a:lstStyle/>
                    <a:p>
                      <a:r>
                        <a:rPr sz="1875" b="1">
                          <a:solidFill>
                            <a:srgbClr val="153127"/>
                          </a:solidFill>
                          <a:latin typeface="Liberation Sans"/>
                          <a:ea typeface="Liberation Sans"/>
                          <a:cs typeface="Liberation Sans"/>
                        </a:rPr>
                        <a:t>Source label</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Predicted non-hit</a:t>
                      </a:r>
                    </a:p>
                  </a:txBody>
                  <a:tcPr marL="142875" marR="142875" marT="114300" marB="95250">
                    <a:solidFill>
                      <a:srgbClr val="E8F2EC"/>
                    </a:solidFill>
                  </a:tcPr>
                </a:tc>
                <a:tc>
                  <a:txBody>
                    <a:bodyPr/>
                    <a:lstStyle/>
                    <a:p>
                      <a:r>
                        <a:rPr sz="1875" b="1">
                          <a:solidFill>
                            <a:srgbClr val="153127"/>
                          </a:solidFill>
                          <a:latin typeface="Liberation Sans"/>
                          <a:ea typeface="Liberation Sans"/>
                          <a:cs typeface="Liberation Sans"/>
                        </a:rPr>
                        <a:t>Predicted hit</a:t>
                      </a:r>
                    </a:p>
                  </a:txBody>
                  <a:tcPr marL="142875" marR="142875" marT="114300" marB="95250">
                    <a:solidFill>
                      <a:srgbClr val="E8F2EC"/>
                    </a:solidFill>
                  </a:tcPr>
                </a:tc>
              </a:tr>
              <a:tr h="825500">
                <a:tc>
                  <a:txBody>
                    <a:bodyPr/>
                    <a:lstStyle/>
                    <a:p>
                      <a:r>
                        <a:rPr sz="1875" b="0">
                          <a:solidFill>
                            <a:srgbClr val="153127"/>
                          </a:solidFill>
                          <a:latin typeface="Liberation Sans"/>
                          <a:ea typeface="Liberation Sans"/>
                          <a:cs typeface="Liberation Sans"/>
                        </a:rPr>
                        <a:t>Non-hit</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299</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209</a:t>
                      </a:r>
                    </a:p>
                  </a:txBody>
                  <a:tcPr marL="142875" marR="142875" marT="114300" marB="95250">
                    <a:solidFill>
                      <a:srgbClr val="FFFFFF"/>
                    </a:solidFill>
                  </a:tcPr>
                </a:tc>
              </a:tr>
              <a:tr h="825500">
                <a:tc>
                  <a:txBody>
                    <a:bodyPr/>
                    <a:lstStyle/>
                    <a:p>
                      <a:r>
                        <a:rPr sz="1875" b="0">
                          <a:solidFill>
                            <a:srgbClr val="153127"/>
                          </a:solidFill>
                          <a:latin typeface="Liberation Sans"/>
                          <a:ea typeface="Liberation Sans"/>
                          <a:cs typeface="Liberation Sans"/>
                        </a:rPr>
                        <a:t>Hit</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31</a:t>
                      </a:r>
                    </a:p>
                  </a:txBody>
                  <a:tcPr marL="142875" marR="142875" marT="114300" marB="95250">
                    <a:solidFill>
                      <a:srgbClr val="FFFFFF"/>
                    </a:solidFill>
                  </a:tcPr>
                </a:tc>
                <a:tc>
                  <a:txBody>
                    <a:bodyPr/>
                    <a:lstStyle/>
                    <a:p>
                      <a:r>
                        <a:rPr sz="1875" b="0">
                          <a:solidFill>
                            <a:srgbClr val="153127"/>
                          </a:solidFill>
                          <a:latin typeface="Liberation Sans"/>
                          <a:ea typeface="Liberation Sans"/>
                          <a:cs typeface="Liberation Sans"/>
                        </a:rPr>
                        <a:t>285</a:t>
                      </a:r>
                    </a:p>
                  </a:txBody>
                  <a:tcPr marL="142875" marR="142875" marT="11430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CC82B88-A29F-494C-9413-FAA91D73BD23}"/>
              </a:ext>
            </a:extLst>
          </p:cNvPr>
          <p:cNvSpPr>
            <a:spLocks xmlns:a="http://schemas.openxmlformats.org/drawingml/2006/main" noGrp="1"/>
          </p:cNvSpPr>
          <p:nvPr/>
        </p:nvSpPr>
        <p:spPr>
          <a:xfrm xmlns:a="http://schemas.openxmlformats.org/drawingml/2006/main">
            <a:off x="8143875" y="19335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14633B"/>
                </a:solidFill>
                <a:latin typeface="Liberation Sans"/>
                <a:ea typeface="Liberation Sans"/>
                <a:cs typeface="Liberation Sans"/>
              </a:defRPr>
            </a:pPr>
            <a:r>
              <a:rPr sz="4125" b="1">
                <a:solidFill>
                  <a:srgbClr val="14633B"/>
                </a:solidFill>
                <a:latin typeface="Liberation Sans"/>
                <a:ea typeface="Liberation Sans"/>
                <a:cs typeface="Liberation Sans"/>
              </a:rPr>
              <a:t>285 / 316</a:t>
            </a:r>
          </a:p>
        </p:txBody>
      </p:sp>
      <p:sp>
        <p:nvSpPr>
          <p:cNvPr id="6" name="">
            <a:extLst xmlns:a="http://schemas.openxmlformats.org/drawingml/2006/main">
              <a:ext uri="{FF2B5EF4-FFF2-40B4-BE49-F238E27FC236}">
                <a16:creationId xmlns:a16="http://schemas.microsoft.com/office/drawing/2014/main" id="{2B64C17D-C2EF-4511-A814-FF428C8736CA}"/>
              </a:ext>
            </a:extLst>
          </p:cNvPr>
          <p:cNvSpPr>
            <a:spLocks xmlns:a="http://schemas.openxmlformats.org/drawingml/2006/main" noGrp="1"/>
          </p:cNvSpPr>
          <p:nvPr/>
        </p:nvSpPr>
        <p:spPr>
          <a:xfrm xmlns:a="http://schemas.openxmlformats.org/drawingml/2006/main">
            <a:off x="8191500" y="292417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3127"/>
                </a:solidFill>
                <a:latin typeface="Liberation Sans"/>
                <a:ea typeface="Liberation Sans"/>
                <a:cs typeface="Liberation Sans"/>
              </a:defRPr>
            </a:pPr>
            <a:r>
              <a:rPr sz="2325" b="0">
                <a:solidFill>
                  <a:srgbClr val="153127"/>
                </a:solidFill>
                <a:latin typeface="Liberation Sans"/>
                <a:ea typeface="Liberation Sans"/>
                <a:cs typeface="Liberation Sans"/>
              </a:rPr>
              <a:t>hits detected</a:t>
            </a:r>
          </a:p>
        </p:txBody>
      </p:sp>
      <p:sp>
        <p:nvSpPr>
          <p:cNvPr id="7" name="">
            <a:extLst xmlns:a="http://schemas.openxmlformats.org/drawingml/2006/main">
              <a:ext uri="{FF2B5EF4-FFF2-40B4-BE49-F238E27FC236}">
                <a16:creationId xmlns:a16="http://schemas.microsoft.com/office/drawing/2014/main" id="{A1A7947C-7114-4055-B386-EFD304228A78}"/>
              </a:ext>
            </a:extLst>
          </p:cNvPr>
          <p:cNvSpPr>
            <a:spLocks xmlns:a="http://schemas.openxmlformats.org/drawingml/2006/main" noGrp="1"/>
          </p:cNvSpPr>
          <p:nvPr/>
        </p:nvSpPr>
        <p:spPr>
          <a:xfrm xmlns:a="http://schemas.openxmlformats.org/drawingml/2006/main">
            <a:off x="8143875" y="371475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153127"/>
                </a:solidFill>
                <a:latin typeface="Liberation Sans"/>
                <a:ea typeface="Liberation Sans"/>
                <a:cs typeface="Liberation Sans"/>
              </a:defRPr>
            </a:pPr>
            <a:r>
              <a:rPr sz="4125" b="1">
                <a:solidFill>
                  <a:srgbClr val="153127"/>
                </a:solidFill>
                <a:latin typeface="Liberation Sans"/>
                <a:ea typeface="Liberation Sans"/>
                <a:cs typeface="Liberation Sans"/>
              </a:rPr>
              <a:t>209</a:t>
            </a:r>
          </a:p>
        </p:txBody>
      </p:sp>
      <p:sp>
        <p:nvSpPr>
          <p:cNvPr id="8" name="">
            <a:extLst xmlns:a="http://schemas.openxmlformats.org/drawingml/2006/main">
              <a:ext uri="{FF2B5EF4-FFF2-40B4-BE49-F238E27FC236}">
                <a16:creationId xmlns:a16="http://schemas.microsoft.com/office/drawing/2014/main" id="{DC456DFC-F6E0-4941-8CF5-92D93E8E1BFC}"/>
              </a:ext>
            </a:extLst>
          </p:cNvPr>
          <p:cNvSpPr>
            <a:spLocks xmlns:a="http://schemas.openxmlformats.org/drawingml/2006/main" noGrp="1"/>
          </p:cNvSpPr>
          <p:nvPr/>
        </p:nvSpPr>
        <p:spPr>
          <a:xfrm xmlns:a="http://schemas.openxmlformats.org/drawingml/2006/main">
            <a:off x="8191500" y="45910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3127"/>
                </a:solidFill>
                <a:latin typeface="Liberation Sans"/>
                <a:ea typeface="Liberation Sans"/>
                <a:cs typeface="Liberation Sans"/>
              </a:defRPr>
            </a:pPr>
            <a:r>
              <a:rPr sz="2325" b="0">
                <a:solidFill>
                  <a:srgbClr val="153127"/>
                </a:solidFill>
                <a:latin typeface="Liberation Sans"/>
                <a:ea typeface="Liberation Sans"/>
                <a:cs typeface="Liberation Sans"/>
              </a:rPr>
              <a:t>false positives</a:t>
            </a:r>
          </a:p>
        </p:txBody>
      </p:sp>
      <p:sp>
        <p:nvSpPr>
          <p:cNvPr id="9" name="">
            <a:extLst xmlns:a="http://schemas.openxmlformats.org/drawingml/2006/main">
              <a:ext uri="{FF2B5EF4-FFF2-40B4-BE49-F238E27FC236}">
                <a16:creationId xmlns:a16="http://schemas.microsoft.com/office/drawing/2014/main" id="{32C1BAD6-4224-4DFB-AB00-6AC5D74EB4AE}"/>
              </a:ext>
            </a:extLst>
          </p:cNvPr>
          <p:cNvSpPr>
            <a:spLocks xmlns:a="http://schemas.openxmlformats.org/drawingml/2006/main" noGrp="1"/>
          </p:cNvSpPr>
          <p:nvPr/>
        </p:nvSpPr>
        <p:spPr>
          <a:xfrm xmlns:a="http://schemas.openxmlformats.org/drawingml/2006/main">
            <a:off x="714375" y="56197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C6D64"/>
                </a:solidFill>
                <a:latin typeface="Liberation Sans"/>
                <a:ea typeface="Liberation Sans"/>
                <a:cs typeface="Liberation Sans"/>
              </a:defRPr>
            </a:pPr>
            <a:r>
              <a:rPr sz="2025" b="0">
                <a:solidFill>
                  <a:srgbClr val="5C6D64"/>
                </a:solidFill>
                <a:latin typeface="Liberation Sans"/>
                <a:ea typeface="Liberation Sans"/>
                <a:cs typeface="Liberation Sans"/>
              </a:rPr>
              <a:t>The cutoff should reflect the intended error costs in any future application.</a:t>
            </a:r>
          </a:p>
        </p:txBody>
      </p:sp>
    </p:spTree>
    <p:extLst>
      <p:ext uri="{BB962C8B-B14F-4D97-AF65-F5344CB8AC3E}">
        <p14:creationId xmlns:p14="http://schemas.microsoft.com/office/powerpoint/2010/main" val="3383825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60F53B-39AE-432D-872C-308CB2015FAB}"/>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Instrumentalness has the largest importance</a:t>
            </a:r>
          </a:p>
        </p:txBody>
      </p:sp>
      <p:sp>
        <p:nvSpPr>
          <p:cNvPr id="2" name="">
            <a:extLst xmlns:a="http://schemas.openxmlformats.org/drawingml/2006/main">
              <a:ext uri="{FF2B5EF4-FFF2-40B4-BE49-F238E27FC236}">
                <a16:creationId xmlns:a16="http://schemas.microsoft.com/office/drawing/2014/main" id="{F31BB291-BC2F-48A5-B92C-8C776A86F589}"/>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A0165E0F-6D0A-4786-A0CF-1C883A54A235}"/>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09</a:t>
            </a:r>
          </a:p>
        </p:txBody>
      </p:sp>
      <p:graphicFrame>
        <p:nvGraphicFramePr>
          <p:cNvPr id="10" name="Chart"/>
          <p:cNvGraphicFramePr/>
          <p:nvPr/>
        </p:nvGraphicFramePr>
        <p:xfrm>
          <a:off xmlns:a="http://schemas.openxmlformats.org/drawingml/2006/main" x="666750" y="1571625"/>
          <a:ext xmlns:a="http://schemas.openxmlformats.org/drawingml/2006/main" cx="10668000" cy="3810000"/>
        </p:xfrm>
        <a:graphic xmlns:a="http://schemas.openxmlformats.org/drawingml/2006/main">
          <a:graphicData uri="http://schemas.openxmlformats.org/drawingml/2006/chart">
            <c:chart xmlns:r="http://schemas.openxmlformats.org/officeDocument/2006/relationships" xmlns:c="http://schemas.openxmlformats.org/drawingml/2006/chart" r:id="Rda3393f5d3574fd9"/>
          </a:graphicData>
        </a:graphic>
      </p:graphicFrame>
      <p:sp>
        <p:nvSpPr>
          <p:cNvPr id="5" name="">
            <a:extLst xmlns:a="http://schemas.openxmlformats.org/drawingml/2006/main">
              <a:ext uri="{FF2B5EF4-FFF2-40B4-BE49-F238E27FC236}">
                <a16:creationId xmlns:a16="http://schemas.microsoft.com/office/drawing/2014/main" id="{9799951B-4DF8-42ED-AD70-3422A751AE6F}"/>
              </a:ext>
            </a:extLst>
          </p:cNvPr>
          <p:cNvSpPr>
            <a:spLocks xmlns:a="http://schemas.openxmlformats.org/drawingml/2006/main" noGrp="1"/>
          </p:cNvSpPr>
          <p:nvPr/>
        </p:nvSpPr>
        <p:spPr>
          <a:xfrm xmlns:a="http://schemas.openxmlformats.org/drawingml/2006/main">
            <a:off x="714375" y="55245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C6D64"/>
                </a:solidFill>
                <a:latin typeface="Liberation Sans"/>
                <a:ea typeface="Liberation Sans"/>
                <a:cs typeface="Liberation Sans"/>
              </a:defRPr>
            </a:pPr>
            <a:r>
              <a:rPr sz="1875" b="0">
                <a:solidFill>
                  <a:srgbClr val="5C6D64"/>
                </a:solidFill>
                <a:latin typeface="Liberation Sans"/>
                <a:ea typeface="Liberation Sans"/>
                <a:cs typeface="Liberation Sans"/>
              </a:rPr>
              <a:t>Mean validation ROC-AUC decrease after shuffling. Top six features shown.</a:t>
            </a:r>
          </a:p>
        </p:txBody>
      </p:sp>
      <p:sp>
        <p:nvSpPr>
          <p:cNvPr id="6" name="">
            <a:extLst xmlns:a="http://schemas.openxmlformats.org/drawingml/2006/main">
              <a:ext uri="{FF2B5EF4-FFF2-40B4-BE49-F238E27FC236}">
                <a16:creationId xmlns:a16="http://schemas.microsoft.com/office/drawing/2014/main" id="{03AAF85F-81C6-40F1-BBAC-FBA4D979E206}"/>
              </a:ext>
            </a:extLst>
          </p:cNvPr>
          <p:cNvSpPr>
            <a:spLocks xmlns:a="http://schemas.openxmlformats.org/drawingml/2006/main" noGrp="1"/>
          </p:cNvSpPr>
          <p:nvPr/>
        </p:nvSpPr>
        <p:spPr>
          <a:xfrm xmlns:a="http://schemas.openxmlformats.org/drawingml/2006/main">
            <a:off x="714375" y="59817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633B"/>
                </a:solidFill>
                <a:latin typeface="Liberation Sans"/>
                <a:ea typeface="Liberation Sans"/>
                <a:cs typeface="Liberation Sans"/>
              </a:defRPr>
            </a:pPr>
            <a:r>
              <a:rPr sz="1875" b="1">
                <a:solidFill>
                  <a:srgbClr val="14633B"/>
                </a:solidFill>
                <a:latin typeface="Liberation Sans"/>
                <a:ea typeface="Liberation Sans"/>
                <a:cs typeface="Liberation Sans"/>
              </a:rPr>
              <a:t>Predictive reliance does not establish cause and effect.</a:t>
            </a:r>
          </a:p>
        </p:txBody>
      </p:sp>
    </p:spTree>
    <p:extLst>
      <p:ext uri="{BB962C8B-B14F-4D97-AF65-F5344CB8AC3E}">
        <p14:creationId xmlns:p14="http://schemas.microsoft.com/office/powerpoint/2010/main" val="20411449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ECC3A1-4F55-4BF1-86E2-8CE42AA1EFA3}"/>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Limits of the evidence</a:t>
            </a:r>
          </a:p>
        </p:txBody>
      </p:sp>
      <p:sp>
        <p:nvSpPr>
          <p:cNvPr id="2" name="">
            <a:extLst xmlns:a="http://schemas.openxmlformats.org/drawingml/2006/main">
              <a:ext uri="{FF2B5EF4-FFF2-40B4-BE49-F238E27FC236}">
                <a16:creationId xmlns:a16="http://schemas.microsoft.com/office/drawing/2014/main" id="{2705A9C0-4740-4943-9022-EB7B41B80ED9}"/>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5BE6F12C-418E-4619-B4A5-7273AA6CB9C1}"/>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10</a:t>
            </a:r>
          </a:p>
        </p:txBody>
      </p:sp>
      <p:sp>
        <p:nvSpPr>
          <p:cNvPr id="4" name="">
            <a:extLst xmlns:a="http://schemas.openxmlformats.org/drawingml/2006/main">
              <a:ext uri="{FF2B5EF4-FFF2-40B4-BE49-F238E27FC236}">
                <a16:creationId xmlns:a16="http://schemas.microsoft.com/office/drawing/2014/main" id="{5BC83DF4-8F78-4925-A2D0-9ECFD12AA86A}"/>
              </a:ext>
            </a:extLst>
          </p:cNvPr>
          <p:cNvSpPr>
            <a:spLocks xmlns:a="http://schemas.openxmlformats.org/drawingml/2006/main" noGrp="1"/>
          </p:cNvSpPr>
          <p:nvPr/>
        </p:nvSpPr>
        <p:spPr>
          <a:xfrm xmlns:a="http://schemas.openxmlformats.org/drawingml/2006/main">
            <a:off x="666750" y="15049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Overfitting remains</a:t>
            </a:r>
          </a:p>
        </p:txBody>
      </p:sp>
      <p:sp>
        <p:nvSpPr>
          <p:cNvPr id="5" name="">
            <a:extLst xmlns:a="http://schemas.openxmlformats.org/drawingml/2006/main">
              <a:ext uri="{FF2B5EF4-FFF2-40B4-BE49-F238E27FC236}">
                <a16:creationId xmlns:a16="http://schemas.microsoft.com/office/drawing/2014/main" id="{63F14D6D-9975-4B85-9399-D5348EE9A5DB}"/>
              </a:ext>
            </a:extLst>
          </p:cNvPr>
          <p:cNvSpPr>
            <a:spLocks xmlns:a="http://schemas.openxmlformats.org/drawingml/2006/main" noGrp="1"/>
          </p:cNvSpPr>
          <p:nvPr/>
        </p:nvSpPr>
        <p:spPr>
          <a:xfrm xmlns:a="http://schemas.openxmlformats.org/drawingml/2006/main">
            <a:off x="4000500" y="150495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Training AUC 0.982 compared with test AUC 0.814</a:t>
            </a:r>
          </a:p>
        </p:txBody>
      </p:sp>
      <p:sp>
        <p:nvSpPr>
          <p:cNvPr id="6" name="">
            <a:extLst xmlns:a="http://schemas.openxmlformats.org/drawingml/2006/main">
              <a:ext uri="{FF2B5EF4-FFF2-40B4-BE49-F238E27FC236}">
                <a16:creationId xmlns:a16="http://schemas.microsoft.com/office/drawing/2014/main" id="{9BF0B363-CCE9-44AE-ADCF-A4EBCCFA2108}"/>
              </a:ext>
            </a:extLst>
          </p:cNvPr>
          <p:cNvSpPr>
            <a:spLocks xmlns:a="http://schemas.openxmlformats.org/drawingml/2006/main" noGrp="1"/>
          </p:cNvSpPr>
          <p:nvPr/>
        </p:nvSpPr>
        <p:spPr>
          <a:xfrm xmlns:a="http://schemas.openxmlformats.org/drawingml/2006/main">
            <a:off x="666750" y="26479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Timing is unresolved</a:t>
            </a:r>
          </a:p>
        </p:txBody>
      </p:sp>
      <p:sp>
        <p:nvSpPr>
          <p:cNvPr id="7" name="">
            <a:extLst xmlns:a="http://schemas.openxmlformats.org/drawingml/2006/main">
              <a:ext uri="{FF2B5EF4-FFF2-40B4-BE49-F238E27FC236}">
                <a16:creationId xmlns:a16="http://schemas.microsoft.com/office/drawing/2014/main" id="{32389746-5155-4CCE-9828-73C65B973BD2}"/>
              </a:ext>
            </a:extLst>
          </p:cNvPr>
          <p:cNvSpPr>
            <a:spLocks xmlns:a="http://schemas.openxmlformats.org/drawingml/2006/main" noGrp="1"/>
          </p:cNvSpPr>
          <p:nvPr/>
        </p:nvSpPr>
        <p:spPr>
          <a:xfrm xmlns:a="http://schemas.openxmlformats.org/drawingml/2006/main">
            <a:off x="4000500" y="264795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No release dates in the main CSV and inconsistent source date windows</a:t>
            </a:r>
          </a:p>
        </p:txBody>
      </p:sp>
      <p:sp>
        <p:nvSpPr>
          <p:cNvPr id="8" name="">
            <a:extLst xmlns:a="http://schemas.openxmlformats.org/drawingml/2006/main">
              <a:ext uri="{FF2B5EF4-FFF2-40B4-BE49-F238E27FC236}">
                <a16:creationId xmlns:a16="http://schemas.microsoft.com/office/drawing/2014/main" id="{4125B5E2-9231-48B6-B572-AAE7C84FA48C}"/>
              </a:ext>
            </a:extLst>
          </p:cNvPr>
          <p:cNvSpPr>
            <a:spLocks xmlns:a="http://schemas.openxmlformats.org/drawingml/2006/main" noGrp="1"/>
          </p:cNvSpPr>
          <p:nvPr/>
        </p:nvSpPr>
        <p:spPr>
          <a:xfrm xmlns:a="http://schemas.openxmlformats.org/drawingml/2006/main">
            <a:off x="666750" y="37909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Sampling limits transfer</a:t>
            </a:r>
          </a:p>
        </p:txBody>
      </p:sp>
      <p:sp>
        <p:nvSpPr>
          <p:cNvPr id="9" name="">
            <a:extLst xmlns:a="http://schemas.openxmlformats.org/drawingml/2006/main">
              <a:ext uri="{FF2B5EF4-FFF2-40B4-BE49-F238E27FC236}">
                <a16:creationId xmlns:a16="http://schemas.microsoft.com/office/drawing/2014/main" id="{44F0D493-2929-4E81-812A-DEA7015ABCEF}"/>
              </a:ext>
            </a:extLst>
          </p:cNvPr>
          <p:cNvSpPr>
            <a:spLocks xmlns:a="http://schemas.openxmlformats.org/drawingml/2006/main" noGrp="1"/>
          </p:cNvSpPr>
          <p:nvPr/>
        </p:nvSpPr>
        <p:spPr>
          <a:xfrm xmlns:a="http://schemas.openxmlformats.org/drawingml/2006/main">
            <a:off x="4000500" y="379095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Historical non-hits and hit prevalence differ from new releases</a:t>
            </a:r>
          </a:p>
        </p:txBody>
      </p:sp>
      <p:sp>
        <p:nvSpPr>
          <p:cNvPr id="10" name="">
            <a:extLst xmlns:a="http://schemas.openxmlformats.org/drawingml/2006/main">
              <a:ext uri="{FF2B5EF4-FFF2-40B4-BE49-F238E27FC236}">
                <a16:creationId xmlns:a16="http://schemas.microsoft.com/office/drawing/2014/main" id="{18A14837-92F8-477E-9963-C7C2BD93446D}"/>
              </a:ext>
            </a:extLst>
          </p:cNvPr>
          <p:cNvSpPr>
            <a:spLocks xmlns:a="http://schemas.openxmlformats.org/drawingml/2006/main" noGrp="1"/>
          </p:cNvSpPr>
          <p:nvPr/>
        </p:nvSpPr>
        <p:spPr>
          <a:xfrm xmlns:a="http://schemas.openxmlformats.org/drawingml/2006/main">
            <a:off x="714375" y="5286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633B"/>
                </a:solidFill>
                <a:latin typeface="Liberation Sans"/>
                <a:ea typeface="Liberation Sans"/>
                <a:cs typeface="Liberation Sans"/>
              </a:defRPr>
            </a:pPr>
            <a:r>
              <a:rPr sz="2025" b="1">
                <a:solidFill>
                  <a:srgbClr val="14633B"/>
                </a:solidFill>
                <a:latin typeface="Liberation Sans"/>
                <a:ea typeface="Liberation Sans"/>
                <a:cs typeface="Liberation Sans"/>
              </a:rPr>
              <a:t>Scores are uncalibrated for real-world use. Marketing and audience effects are unobserved.</a:t>
            </a:r>
          </a:p>
        </p:txBody>
      </p:sp>
    </p:spTree>
    <p:extLst>
      <p:ext uri="{BB962C8B-B14F-4D97-AF65-F5344CB8AC3E}">
        <p14:creationId xmlns:p14="http://schemas.microsoft.com/office/powerpoint/2010/main" val="5116630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889F30-DA6C-45A4-A384-D045CA162078}"/>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Live demonstration</a:t>
            </a:r>
          </a:p>
        </p:txBody>
      </p:sp>
      <p:sp>
        <p:nvSpPr>
          <p:cNvPr id="2" name="">
            <a:extLst xmlns:a="http://schemas.openxmlformats.org/drawingml/2006/main">
              <a:ext uri="{FF2B5EF4-FFF2-40B4-BE49-F238E27FC236}">
                <a16:creationId xmlns:a16="http://schemas.microsoft.com/office/drawing/2014/main" id="{3CF03074-6409-49FC-A803-F98063BEC08F}"/>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4F8F9660-436F-41AB-B871-3516B767E955}"/>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11</a:t>
            </a:r>
          </a:p>
        </p:txBody>
      </p:sp>
      <p:sp>
        <p:nvSpPr>
          <p:cNvPr id="4" name="">
            <a:extLst xmlns:a="http://schemas.openxmlformats.org/drawingml/2006/main">
              <a:ext uri="{FF2B5EF4-FFF2-40B4-BE49-F238E27FC236}">
                <a16:creationId xmlns:a16="http://schemas.microsoft.com/office/drawing/2014/main" id="{D0630032-848A-47BF-AF73-4CA66A76D44D}"/>
              </a:ext>
            </a:extLst>
          </p:cNvPr>
          <p:cNvSpPr>
            <a:spLocks xmlns:a="http://schemas.openxmlformats.org/drawingml/2006/main" noGrp="1"/>
          </p:cNvSpPr>
          <p:nvPr/>
        </p:nvSpPr>
        <p:spPr>
          <a:xfrm xmlns:a="http://schemas.openxmlformats.org/drawingml/2006/main">
            <a:off x="666750" y="16192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01  Load an example</a:t>
            </a:r>
          </a:p>
        </p:txBody>
      </p:sp>
      <p:sp>
        <p:nvSpPr>
          <p:cNvPr id="5" name="">
            <a:extLst xmlns:a="http://schemas.openxmlformats.org/drawingml/2006/main">
              <a:ext uri="{FF2B5EF4-FFF2-40B4-BE49-F238E27FC236}">
                <a16:creationId xmlns:a16="http://schemas.microsoft.com/office/drawing/2014/main" id="{3F99673E-4447-4D0B-9BED-A6E6BED15A2A}"/>
              </a:ext>
            </a:extLst>
          </p:cNvPr>
          <p:cNvSpPr>
            <a:spLocks xmlns:a="http://schemas.openxmlformats.org/drawingml/2006/main" noGrp="1"/>
          </p:cNvSpPr>
          <p:nvPr/>
        </p:nvSpPr>
        <p:spPr>
          <a:xfrm xmlns:a="http://schemas.openxmlformats.org/drawingml/2006/main">
            <a:off x="4000500" y="161925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Choose a held-out track and inspect its measured audio features</a:t>
            </a:r>
          </a:p>
        </p:txBody>
      </p:sp>
      <p:sp>
        <p:nvSpPr>
          <p:cNvPr id="6" name="">
            <a:extLst xmlns:a="http://schemas.openxmlformats.org/drawingml/2006/main">
              <a:ext uri="{FF2B5EF4-FFF2-40B4-BE49-F238E27FC236}">
                <a16:creationId xmlns:a16="http://schemas.microsoft.com/office/drawing/2014/main" id="{21B5167F-B187-41E4-91BE-37CEA823160F}"/>
              </a:ext>
            </a:extLst>
          </p:cNvPr>
          <p:cNvSpPr>
            <a:spLocks xmlns:a="http://schemas.openxmlformats.org/drawingml/2006/main" noGrp="1"/>
          </p:cNvSpPr>
          <p:nvPr/>
        </p:nvSpPr>
        <p:spPr>
          <a:xfrm xmlns:a="http://schemas.openxmlformats.org/drawingml/2006/main">
            <a:off x="666750" y="28575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02  Score the track</a:t>
            </a:r>
          </a:p>
        </p:txBody>
      </p:sp>
      <p:sp>
        <p:nvSpPr>
          <p:cNvPr id="7" name="">
            <a:extLst xmlns:a="http://schemas.openxmlformats.org/drawingml/2006/main">
              <a:ext uri="{FF2B5EF4-FFF2-40B4-BE49-F238E27FC236}">
                <a16:creationId xmlns:a16="http://schemas.microsoft.com/office/drawing/2014/main" id="{BCFD6C64-0BA5-4F18-B52E-F9FC79716820}"/>
              </a:ext>
            </a:extLst>
          </p:cNvPr>
          <p:cNvSpPr>
            <a:spLocks xmlns:a="http://schemas.openxmlformats.org/drawingml/2006/main" noGrp="1"/>
          </p:cNvSpPr>
          <p:nvPr/>
        </p:nvSpPr>
        <p:spPr>
          <a:xfrm xmlns:a="http://schemas.openxmlformats.org/drawingml/2006/main">
            <a:off x="4000500" y="285750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Compare the model score, cutoff and source label</a:t>
            </a:r>
          </a:p>
        </p:txBody>
      </p:sp>
      <p:sp>
        <p:nvSpPr>
          <p:cNvPr id="8" name="">
            <a:extLst xmlns:a="http://schemas.openxmlformats.org/drawingml/2006/main">
              <a:ext uri="{FF2B5EF4-FFF2-40B4-BE49-F238E27FC236}">
                <a16:creationId xmlns:a16="http://schemas.microsoft.com/office/drawing/2014/main" id="{C7082D0F-9092-43DD-97A0-DF1B5889A6B1}"/>
              </a:ext>
            </a:extLst>
          </p:cNvPr>
          <p:cNvSpPr>
            <a:spLocks xmlns:a="http://schemas.openxmlformats.org/drawingml/2006/main" noGrp="1"/>
          </p:cNvSpPr>
          <p:nvPr/>
        </p:nvSpPr>
        <p:spPr>
          <a:xfrm xmlns:a="http://schemas.openxmlformats.org/drawingml/2006/main">
            <a:off x="666750" y="40957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33B"/>
                </a:solidFill>
                <a:latin typeface="Liberation Sans"/>
                <a:ea typeface="Liberation Sans"/>
                <a:cs typeface="Liberation Sans"/>
              </a:defRPr>
            </a:pPr>
            <a:r>
              <a:rPr sz="2250" b="1">
                <a:solidFill>
                  <a:srgbClr val="14633B"/>
                </a:solidFill>
                <a:latin typeface="Liberation Sans"/>
                <a:ea typeface="Liberation Sans"/>
                <a:cs typeface="Liberation Sans"/>
              </a:rPr>
              <a:t>03  Inspect results</a:t>
            </a:r>
          </a:p>
        </p:txBody>
      </p:sp>
      <p:sp>
        <p:nvSpPr>
          <p:cNvPr id="9" name="">
            <a:extLst xmlns:a="http://schemas.openxmlformats.org/drawingml/2006/main">
              <a:ext uri="{FF2B5EF4-FFF2-40B4-BE49-F238E27FC236}">
                <a16:creationId xmlns:a16="http://schemas.microsoft.com/office/drawing/2014/main" id="{CCD171B3-B737-4570-B21F-C554C30C8B84}"/>
              </a:ext>
            </a:extLst>
          </p:cNvPr>
          <p:cNvSpPr>
            <a:spLocks xmlns:a="http://schemas.openxmlformats.org/drawingml/2006/main" noGrp="1"/>
          </p:cNvSpPr>
          <p:nvPr/>
        </p:nvSpPr>
        <p:spPr>
          <a:xfrm xmlns:a="http://schemas.openxmlformats.org/drawingml/2006/main">
            <a:off x="4000500" y="4095750"/>
            <a:ext cx="738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127"/>
                </a:solidFill>
                <a:latin typeface="Liberation Sans"/>
                <a:ea typeface="Liberation Sans"/>
                <a:cs typeface="Liberation Sans"/>
              </a:defRPr>
            </a:pPr>
            <a:r>
              <a:rPr sz="2025" b="0">
                <a:solidFill>
                  <a:srgbClr val="153127"/>
                </a:solidFill>
                <a:latin typeface="Liberation Sans"/>
                <a:ea typeface="Liberation Sans"/>
                <a:cs typeface="Liberation Sans"/>
              </a:rPr>
              <a:t>Show batch CSV scoring and the stored test results</a:t>
            </a:r>
          </a:p>
        </p:txBody>
      </p:sp>
      <p:sp>
        <p:nvSpPr>
          <p:cNvPr id="10" name="">
            <a:extLst xmlns:a="http://schemas.openxmlformats.org/drawingml/2006/main">
              <a:ext uri="{FF2B5EF4-FFF2-40B4-BE49-F238E27FC236}">
                <a16:creationId xmlns:a16="http://schemas.microsoft.com/office/drawing/2014/main" id="{054225E7-B341-4627-AE69-2FFA4927AABA}"/>
              </a:ext>
            </a:extLst>
          </p:cNvPr>
          <p:cNvSpPr>
            <a:spLocks xmlns:a="http://schemas.openxmlformats.org/drawingml/2006/main" noGrp="1"/>
          </p:cNvSpPr>
          <p:nvPr/>
        </p:nvSpPr>
        <p:spPr>
          <a:xfrm xmlns:a="http://schemas.openxmlformats.org/drawingml/2006/main">
            <a:off x="714375" y="56388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633B"/>
                </a:solidFill>
                <a:latin typeface="Liberation Sans"/>
                <a:ea typeface="Liberation Sans"/>
                <a:cs typeface="Liberation Sans"/>
              </a:defRPr>
            </a:pPr>
            <a:r>
              <a:rPr sz="2175" b="1">
                <a:solidFill>
                  <a:srgbClr val="14633B"/>
                </a:solidFill>
                <a:latin typeface="Liberation Sans"/>
                <a:ea typeface="Liberation Sans"/>
                <a:cs typeface="Liberation Sans"/>
              </a:rPr>
              <a:t>Offline demo: python -m streamlit run app.py</a:t>
            </a:r>
          </a:p>
        </p:txBody>
      </p:sp>
    </p:spTree>
    <p:extLst>
      <p:ext uri="{BB962C8B-B14F-4D97-AF65-F5344CB8AC3E}">
        <p14:creationId xmlns:p14="http://schemas.microsoft.com/office/powerpoint/2010/main" val="16505848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260603-2DBE-4BC5-A2E3-5D9CB9B0DB84}"/>
              </a:ext>
            </a:extLst>
          </p:cNvPr>
          <p:cNvSpPr>
            <a:spLocks xmlns:a="http://schemas.openxmlformats.org/drawingml/2006/main" noGrp="1"/>
          </p:cNvSpPr>
          <p:nvPr/>
        </p:nvSpPr>
        <p:spPr>
          <a:xfrm xmlns:a="http://schemas.openxmlformats.org/drawingml/2006/main">
            <a:off x="619125" y="428625"/>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53127"/>
                </a:solidFill>
                <a:latin typeface="Liberation Sans"/>
                <a:ea typeface="Liberation Sans"/>
                <a:cs typeface="Liberation Sans"/>
              </a:defRPr>
            </a:pPr>
            <a:r>
              <a:rPr sz="3225" b="1">
                <a:solidFill>
                  <a:srgbClr val="153127"/>
                </a:solidFill>
                <a:latin typeface="Liberation Sans"/>
                <a:ea typeface="Liberation Sans"/>
                <a:cs typeface="Liberation Sans"/>
              </a:rPr>
              <a:t>Conclusion and next experiment</a:t>
            </a:r>
          </a:p>
        </p:txBody>
      </p:sp>
      <p:sp>
        <p:nvSpPr>
          <p:cNvPr id="2" name="">
            <a:extLst xmlns:a="http://schemas.openxmlformats.org/drawingml/2006/main">
              <a:ext uri="{FF2B5EF4-FFF2-40B4-BE49-F238E27FC236}">
                <a16:creationId xmlns:a16="http://schemas.microsoft.com/office/drawing/2014/main" id="{67AB63C3-59DC-4C4E-BB26-A9578F90BF2F}"/>
              </a:ext>
            </a:extLst>
          </p:cNvPr>
          <p:cNvSpPr>
            <a:spLocks xmlns:a="http://schemas.openxmlformats.org/drawingml/2006/main" noGrp="1"/>
          </p:cNvSpPr>
          <p:nvPr/>
        </p:nvSpPr>
        <p:spPr>
          <a:xfrm xmlns:a="http://schemas.openxmlformats.org/drawingml/2006/main">
            <a:off x="619125" y="64103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HITPREDICT  /  TEAM 21  /  E SECTION</a:t>
            </a:r>
          </a:p>
        </p:txBody>
      </p:sp>
      <p:sp>
        <p:nvSpPr>
          <p:cNvPr id="3" name="">
            <a:extLst xmlns:a="http://schemas.openxmlformats.org/drawingml/2006/main">
              <a:ext uri="{FF2B5EF4-FFF2-40B4-BE49-F238E27FC236}">
                <a16:creationId xmlns:a16="http://schemas.microsoft.com/office/drawing/2014/main" id="{867BEEDA-C0C0-4BE7-8772-2B56525A5176}"/>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C6D64"/>
                </a:solidFill>
                <a:latin typeface="Liberation Sans"/>
                <a:ea typeface="Liberation Sans"/>
                <a:cs typeface="Liberation Sans"/>
              </a:defRPr>
            </a:pPr>
            <a:r>
              <a:rPr sz="1275" b="0">
                <a:solidFill>
                  <a:srgbClr val="5C6D64"/>
                </a:solidFill>
                <a:latin typeface="Liberation Sans"/>
                <a:ea typeface="Liberation Sans"/>
                <a:cs typeface="Liberation Sans"/>
              </a:rPr>
              <a:t>12</a:t>
            </a:r>
          </a:p>
        </p:txBody>
      </p:sp>
      <p:sp>
        <p:nvSpPr>
          <p:cNvPr id="4" name="">
            <a:extLst xmlns:a="http://schemas.openxmlformats.org/drawingml/2006/main">
              <a:ext uri="{FF2B5EF4-FFF2-40B4-BE49-F238E27FC236}">
                <a16:creationId xmlns:a16="http://schemas.microsoft.com/office/drawing/2014/main" id="{3B00DB46-AB85-4422-93B8-4B6FC2E7FAE6}"/>
              </a:ext>
            </a:extLst>
          </p:cNvPr>
          <p:cNvSpPr>
            <a:spLocks xmlns:a="http://schemas.openxmlformats.org/drawingml/2006/main" noGrp="1"/>
          </p:cNvSpPr>
          <p:nvPr/>
        </p:nvSpPr>
        <p:spPr>
          <a:xfrm xmlns:a="http://schemas.openxmlformats.org/drawingml/2006/main">
            <a:off x="714375" y="157162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633B"/>
                </a:solidFill>
                <a:latin typeface="Liberation Sans"/>
                <a:ea typeface="Liberation Sans"/>
                <a:cs typeface="Liberation Sans"/>
              </a:defRPr>
            </a:pPr>
            <a:r>
              <a:rPr sz="3150" b="1">
                <a:solidFill>
                  <a:srgbClr val="14633B"/>
                </a:solidFill>
                <a:latin typeface="Liberation Sans"/>
                <a:ea typeface="Liberation Sans"/>
                <a:cs typeface="Liberation Sans"/>
              </a:rPr>
              <a:t>Audio features contain useful signal</a:t>
            </a:r>
          </a:p>
          <a:p xmlns:a="http://schemas.openxmlformats.org/drawingml/2006/main">
            <a:pPr>
              <a:defRPr sz="3150" b="1">
                <a:solidFill>
                  <a:srgbClr val="14633B"/>
                </a:solidFill>
                <a:latin typeface="Liberation Sans"/>
                <a:ea typeface="Liberation Sans"/>
                <a:cs typeface="Liberation Sans"/>
              </a:defRPr>
            </a:pPr>
            <a:r>
              <a:rPr sz="3150" b="1">
                <a:solidFill>
                  <a:srgbClr val="14633B"/>
                </a:solidFill>
                <a:latin typeface="Liberation Sans"/>
                <a:ea typeface="Liberation Sans"/>
                <a:cs typeface="Liberation Sans"/>
              </a:rPr>
              <a:t>for historical hit-label classification.</a:t>
            </a:r>
          </a:p>
        </p:txBody>
      </p:sp>
      <p:sp>
        <p:nvSpPr>
          <p:cNvPr id="5" name="">
            <a:extLst xmlns:a="http://schemas.openxmlformats.org/drawingml/2006/main">
              <a:ext uri="{FF2B5EF4-FFF2-40B4-BE49-F238E27FC236}">
                <a16:creationId xmlns:a16="http://schemas.microsoft.com/office/drawing/2014/main" id="{49B91DC5-109F-44BF-B778-BC73239F743F}"/>
              </a:ext>
            </a:extLst>
          </p:cNvPr>
          <p:cNvSpPr>
            <a:spLocks xmlns:a="http://schemas.openxmlformats.org/drawingml/2006/main" noGrp="1"/>
          </p:cNvSpPr>
          <p:nvPr/>
        </p:nvSpPr>
        <p:spPr>
          <a:xfrm xmlns:a="http://schemas.openxmlformats.org/drawingml/2006/main">
            <a:off x="714375" y="30480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3127"/>
                </a:solidFill>
                <a:latin typeface="Liberation Sans"/>
                <a:ea typeface="Liberation Sans"/>
                <a:cs typeface="Liberation Sans"/>
              </a:defRPr>
            </a:pPr>
            <a:r>
              <a:rPr sz="2250" b="0">
                <a:solidFill>
                  <a:srgbClr val="153127"/>
                </a:solidFill>
                <a:latin typeface="Liberation Sans"/>
                <a:ea typeface="Liberation Sans"/>
                <a:cs typeface="Liberation Sans"/>
              </a:rPr>
              <a:t>ROC-AUC 0.814. High recall at cutoff 0.29, with many false positives.</a:t>
            </a:r>
          </a:p>
        </p:txBody>
      </p:sp>
      <p:sp>
        <p:nvSpPr>
          <p:cNvPr id="6" name="">
            <a:extLst xmlns:a="http://schemas.openxmlformats.org/drawingml/2006/main">
              <a:ext uri="{FF2B5EF4-FFF2-40B4-BE49-F238E27FC236}">
                <a16:creationId xmlns:a16="http://schemas.microsoft.com/office/drawing/2014/main" id="{595D400A-FA93-41B9-B1EA-782781B12B99}"/>
              </a:ext>
            </a:extLst>
          </p:cNvPr>
          <p:cNvSpPr>
            <a:spLocks xmlns:a="http://schemas.openxmlformats.org/drawingml/2006/main" noGrp="1"/>
          </p:cNvSpPr>
          <p:nvPr/>
        </p:nvSpPr>
        <p:spPr>
          <a:xfrm xmlns:a="http://schemas.openxmlformats.org/drawingml/2006/main">
            <a:off x="714375" y="42100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3127"/>
                </a:solidFill>
                <a:latin typeface="Liberation Sans"/>
                <a:ea typeface="Liberation Sans"/>
                <a:cs typeface="Liberation Sans"/>
              </a:defRPr>
            </a:pPr>
            <a:r>
              <a:rPr sz="2250" b="0">
                <a:solidFill>
                  <a:srgbClr val="153127"/>
                </a:solidFill>
                <a:latin typeface="Liberation Sans"/>
                <a:ea typeface="Liberation Sans"/>
                <a:cs typeface="Liberation Sans"/>
              </a:rPr>
              <a:t>Next: verify release dates and chart histories, then evaluate later releases with a fixed prediction window.</a:t>
            </a:r>
          </a:p>
        </p:txBody>
      </p:sp>
      <p:sp>
        <p:nvSpPr>
          <p:cNvPr id="7" name="">
            <a:extLst xmlns:a="http://schemas.openxmlformats.org/drawingml/2006/main">
              <a:ext uri="{FF2B5EF4-FFF2-40B4-BE49-F238E27FC236}">
                <a16:creationId xmlns:a16="http://schemas.microsoft.com/office/drawing/2014/main" id="{5BE95D35-7CD5-4E66-8367-D9FBF951B3B8}"/>
              </a:ext>
            </a:extLst>
          </p:cNvPr>
          <p:cNvSpPr>
            <a:spLocks xmlns:a="http://schemas.openxmlformats.org/drawingml/2006/main" noGrp="1"/>
          </p:cNvSpPr>
          <p:nvPr/>
        </p:nvSpPr>
        <p:spPr>
          <a:xfrm xmlns:a="http://schemas.openxmlformats.org/drawingml/2006/main">
            <a:off x="714375" y="55721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C6D64"/>
                </a:solidFill>
                <a:latin typeface="Liberation Sans"/>
                <a:ea typeface="Liberation Sans"/>
                <a:cs typeface="Liberation Sans"/>
              </a:defRPr>
            </a:pPr>
            <a:r>
              <a:rPr sz="1650" b="0">
                <a:solidFill>
                  <a:srgbClr val="5C6D64"/>
                </a:solidFill>
                <a:latin typeface="Liberation Sans"/>
                <a:ea typeface="Liberation Sans"/>
                <a:cs typeface="Liberation Sans"/>
              </a:rPr>
              <a:t>Original dataset: Georgieva, Suta and Burton, Stanford CS229 (2018)</a:t>
            </a:r>
          </a:p>
          <a:p xmlns:a="http://schemas.openxmlformats.org/drawingml/2006/main">
            <a:pPr>
              <a:defRPr sz="1650" b="0">
                <a:solidFill>
                  <a:srgbClr val="5C6D64"/>
                </a:solidFill>
                <a:latin typeface="Liberation Sans"/>
                <a:ea typeface="Liberation Sans"/>
                <a:cs typeface="Liberation Sans"/>
              </a:defRPr>
            </a:pPr>
            <a:r>
              <a:rPr sz="1650" b="0">
                <a:solidFill>
                  <a:srgbClr val="5C6D64"/>
                </a:solidFill>
                <a:latin typeface="Liberation Sans"/>
                <a:ea typeface="Liberation Sans"/>
                <a:cs typeface="Liberation Sans"/>
              </a:rPr>
              <a:t>New implementation, documented experiment and reproducible demo</a:t>
            </a:r>
          </a:p>
        </p:txBody>
      </p:sp>
    </p:spTree>
    <p:extLst>
      <p:ext uri="{BB962C8B-B14F-4D97-AF65-F5344CB8AC3E}">
        <p14:creationId xmlns:p14="http://schemas.microsoft.com/office/powerpoint/2010/main" val="13388465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2026-10-07T10:06:42.7090000Z</dcterms:created>
  <dcterms:modified xsi:type="dcterms:W3CDTF">2026-10-07T10:06:42.7100000Z</dcterms:modified>
</coreProperties>
</file>